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charts/chart1.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MVP Baseline</c:v>
                </c:pt>
              </c:strCache>
            </c:strRef>
          </c:tx>
          <c:spPr>
            <a:solidFill>
              <a:srgbClr val="0B2545"/>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Sheet1!$A$2:$A$4</c:f>
              <c:multiLvlStrCache>
                <c:ptCount val="3"/>
                <c:lvl>
                  <c:pt idx="0">
                    <c:v>ROUGE-1</c:v>
                  </c:pt>
                  <c:pt idx="1">
                    <c:v>ROUGE-2</c:v>
                  </c:pt>
                  <c:pt idx="2">
                    <c:v>ROUGE-L</c:v>
                  </c:pt>
                </c:lvl>
              </c:multiLvlStrCache>
            </c:multiLvlStrRef>
          </c:cat>
          <c:val>
            <c:numRef>
              <c:f>Sheet1!$B$2:$B$4</c:f>
              <c:numCache>
                <c:formatCode>General</c:formatCode>
                <c:ptCount val="3"/>
                <c:pt idx="0">
                  <c:v>13.99</c:v>
                </c:pt>
                <c:pt idx="1">
                  <c:v>2.13</c:v>
                </c:pt>
                <c:pt idx="2">
                  <c:v>12.16</c:v>
                </c:pt>
              </c:numCache>
            </c:numRef>
          </c:val>
        </c:ser>
        <c:ser>
          <c:idx val="1"/>
          <c:order val="1"/>
          <c:tx>
            <c:strRef>
              <c:f>Sheet1!$C$1</c:f>
              <c:strCache>
                <c:ptCount val="1"/>
                <c:pt idx="0">
                  <c:v>Final Model</c:v>
                </c:pt>
              </c:strCache>
            </c:strRef>
          </c:tx>
          <c:spPr>
            <a:solidFill>
              <a:srgbClr val="35D0E6"/>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Sheet1!$A$2:$A$4</c:f>
              <c:multiLvlStrCache>
                <c:ptCount val="3"/>
                <c:lvl>
                  <c:pt idx="0">
                    <c:v>ROUGE-1</c:v>
                  </c:pt>
                  <c:pt idx="1">
                    <c:v>ROUGE-2</c:v>
                  </c:pt>
                  <c:pt idx="2">
                    <c:v>ROUGE-L</c:v>
                  </c:pt>
                </c:lvl>
              </c:multiLvlStrCache>
            </c:multiLvlStrRef>
          </c:cat>
          <c:val>
            <c:numRef>
              <c:f>Sheet1!$C$2:$C$4</c:f>
              <c:numCache>
                <c:formatCode>General</c:formatCode>
                <c:ptCount val="3"/>
                <c:pt idx="0">
                  <c:v>31.71</c:v>
                </c:pt>
                <c:pt idx="1">
                  <c:v>13.23</c:v>
                </c:pt>
                <c:pt idx="2">
                  <c:v>23.13</c:v>
                </c:pt>
              </c:numCache>
            </c:numRef>
          </c:val>
        </c:ser>
        <c:ser>
          <c:idx val="2"/>
          <c:order val="2"/>
          <c:tx>
            <c:strRef>
              <c:f>Sheet1!$D$1</c:f>
              <c:strCache>
                <c:ptCount val="1"/>
                <c:pt idx="0">
                  <c:v>Pitch Target</c:v>
                </c:pt>
              </c:strCache>
            </c:strRef>
          </c:tx>
          <c:spPr>
            <a:solidFill>
              <a:srgbClr val="66E38E"/>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Sheet1!$A$2:$A$4</c:f>
              <c:multiLvlStrCache>
                <c:ptCount val="3"/>
                <c:lvl>
                  <c:pt idx="0">
                    <c:v>ROUGE-1</c:v>
                  </c:pt>
                  <c:pt idx="1">
                    <c:v>ROUGE-2</c:v>
                  </c:pt>
                  <c:pt idx="2">
                    <c:v>ROUGE-L</c:v>
                  </c:pt>
                </c:lvl>
              </c:multiLvlStrCache>
            </c:multiLvlStrRef>
          </c:cat>
          <c:val>
            <c:numRef>
              <c:f>Sheet1!$D$2:$D$4</c:f>
              <c:numCache>
                <c:formatCode>General</c:formatCode>
                <c:ptCount val="3"/>
                <c:pt idx="0">
                  <c:v>35</c:v>
                </c:pt>
                <c:pt idx="1">
                  <c:v>12</c:v>
                </c:pt>
                <c:pt idx="2">
                  <c:v>32</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D6E3F0"/>
                </a:solidFill>
                <a:latin typeface="Aptos"/>
              </a:defRPr>
            </a:pPr>
            <a:endParaRPr lang="en-US"/>
          </a:p>
        </c:txPr>
        <c:crossAx val="2094734552"/>
        <c:crosses val="autoZero"/>
        <c:auto val="1"/>
        <c:lblAlgn val="ctr"/>
        <c:noMultiLvlLbl val="1"/>
      </c:catAx>
      <c:valAx>
        <c:axId val="2094734552"/>
        <c:scaling>
          <c:orientation val="minMax"/>
          <c:max val="40"/>
          <c:min val="0"/>
        </c:scaling>
        <c:delete val="0"/>
        <c:axPos val="l"/>
        <c:majorGridlines>
          <c:spPr>
            <a:ln w="12700" cap="flat">
              <a:solidFill>
                <a:srgbClr val="344B5E"/>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800" b="0" i="0" u="none" strike="noStrike">
                <a:solidFill>
                  <a:srgbClr val="D6E3F0"/>
                </a:solidFill>
                <a:latin typeface="Aptos"/>
              </a:defRPr>
            </a:pPr>
            <a:endParaRPr lang="en-US"/>
          </a:p>
        </c:txPr>
        <c:crossAx val="2094734554"/>
        <c:crosses val="autoZero"/>
        <c:crossBetween val="between"/>
        <c:majorUnit val="10"/>
      </c:valAx>
      <c:spPr>
        <a:noFill/>
        <a:ln>
          <a:noFill/>
        </a:ln>
        <a:effectLst/>
      </c:spPr>
    </c:plotArea>
    <c:legend>
      <c:legendPos val="b"/>
      <c:overlay val="0"/>
      <c:txPr>
        <a:bodyPr/>
        <a:lstStyle/>
        <a:p>
          <a:pPr>
            <a:defRPr sz="800">
              <a:solidFill>
                <a:srgbClr val="D6E3F0"/>
              </a:solidFill>
              <a:latin typeface="Aptos"/>
              <a:cs typeface="Aptos"/>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with the product idea: Gridiron Brief is a proof-of-concept system that turns long fantasy football group chats into short summaries. Explain that the showcase will cover the business problem, technical approach, final results, qualitative limitations, and future improvements. Keep this slide to about 35–45 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the actual product pain: users return to a chat and need to know if anything important happened. Position the model as a decision-support tool, not a replacement for the source conversation. Target timing is about one minute.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sets the grading frame: success is not only model output but also a responsible evaluation strategy. Mention that ROUGE is automated, while human review checks the main product risk: factual alignment. About 60 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pipeline from raw conversations to final scoring. Emphasize leakage prevention and the distinction between validation tuning and test evaluation. This is the first technical slide, so take about one minute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Discuss the architecture in plain language: the encoder reads the dialogue and the decoder generates the summary. Explain that BERT was required by the prompt, so instead of switching to BART or T5, the final model improved the BERT-to-BERT setup with a warm-started summarization checkpoint. About 90 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the chart and explain the result in one sentence: the refinement worked, especially ROUGE-2, but it did not make the model deployment-ready. Give the actual numbers and emphasize the honest comparison to pitch targets. About one minute.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slide to show critical thinking. Say the model is no longer producing unrelated hallucinations, which is an improvement, but factual grounding and speaker tracking are not good enough for production. Mention the strict 0 percent factual support result clearly and responsibly. About 90 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by tying the model to business value and product responsibility. Name the main accomplishments, the growth lesson, and the improvement roadmap. This also gives a compact oral version of the written reflection: the project succeeded as a proof of concept, but factual consistency is the next real frontier. About one minute.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mnt/data/wide_dark_blue_tech_stylized_scene_clean_vector_3_batch_1.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94360" y="960120"/>
            <a:ext cx="5486400" cy="713232"/>
          </a:xfrm>
          <a:prstGeom prst="rect">
            <a:avLst/>
          </a:prstGeom>
          <a:noFill/>
          <a:ln/>
        </p:spPr>
        <p:txBody>
          <a:bodyPr wrap="square" lIns="0" tIns="0" rIns="0" bIns="0" rtlCol="0" anchor="ctr">
            <a:normAutofit/>
          </a:bodyPr>
          <a:lstStyle/>
          <a:p>
            <a:pPr indent="0" marL="0">
              <a:buNone/>
            </a:pPr>
            <a:r>
              <a:rPr lang="en-US" sz="3800" b="1" dirty="0">
                <a:solidFill>
                  <a:srgbClr val="F7FAFC"/>
                </a:solidFill>
                <a:latin typeface="Aptos Display" pitchFamily="34" charset="0"/>
                <a:ea typeface="Aptos Display" pitchFamily="34" charset="-122"/>
                <a:cs typeface="Aptos Display" pitchFamily="34" charset="-120"/>
              </a:rPr>
              <a:t>Gridiron Brief</a:t>
            </a:r>
            <a:endParaRPr lang="en-US" sz="3800" dirty="0"/>
          </a:p>
        </p:txBody>
      </p:sp>
      <p:sp>
        <p:nvSpPr>
          <p:cNvPr id="4" name="Text 1"/>
          <p:cNvSpPr/>
          <p:nvPr/>
        </p:nvSpPr>
        <p:spPr>
          <a:xfrm>
            <a:off x="612648" y="1737360"/>
            <a:ext cx="6035040" cy="438912"/>
          </a:xfrm>
          <a:prstGeom prst="rect">
            <a:avLst/>
          </a:prstGeom>
          <a:noFill/>
          <a:ln/>
        </p:spPr>
        <p:txBody>
          <a:bodyPr wrap="square" lIns="0" tIns="0" rIns="0" bIns="0" rtlCol="0" anchor="ctr">
            <a:normAutofit/>
          </a:bodyPr>
          <a:lstStyle/>
          <a:p>
            <a:pPr indent="0" marL="0">
              <a:buNone/>
            </a:pPr>
            <a:r>
              <a:rPr lang="en-US" sz="1500" dirty="0">
                <a:solidFill>
                  <a:srgbClr val="35D0E6"/>
                </a:solidFill>
              </a:rPr>
              <a:t>AI-Powered Fantasy Football League Chat Summarization</a:t>
            </a:r>
            <a:endParaRPr lang="en-US" sz="1500" dirty="0"/>
          </a:p>
        </p:txBody>
      </p:sp>
      <p:sp>
        <p:nvSpPr>
          <p:cNvPr id="5" name="Shape 2"/>
          <p:cNvSpPr/>
          <p:nvPr/>
        </p:nvSpPr>
        <p:spPr>
          <a:xfrm>
            <a:off x="612648" y="2359152"/>
            <a:ext cx="4206240" cy="0"/>
          </a:xfrm>
          <a:prstGeom prst="line">
            <a:avLst/>
          </a:prstGeom>
          <a:noFill/>
          <a:ln w="15240">
            <a:solidFill>
              <a:srgbClr val="35D0E6">
                <a:alpha val="85000"/>
              </a:srgbClr>
            </a:solidFill>
            <a:prstDash val="solid"/>
          </a:ln>
        </p:spPr>
      </p:sp>
      <p:sp>
        <p:nvSpPr>
          <p:cNvPr id="6" name="Text 3"/>
          <p:cNvSpPr/>
          <p:nvPr/>
        </p:nvSpPr>
        <p:spPr>
          <a:xfrm>
            <a:off x="612648" y="2587752"/>
            <a:ext cx="5394960" cy="292608"/>
          </a:xfrm>
          <a:prstGeom prst="rect">
            <a:avLst/>
          </a:prstGeom>
          <a:noFill/>
          <a:ln/>
        </p:spPr>
        <p:txBody>
          <a:bodyPr wrap="square" lIns="0" tIns="0" rIns="0" bIns="0" rtlCol="0" anchor="ctr">
            <a:normAutofit/>
          </a:bodyPr>
          <a:lstStyle/>
          <a:p>
            <a:pPr indent="0" marL="0">
              <a:buNone/>
            </a:pPr>
            <a:r>
              <a:rPr lang="en-US" sz="950" dirty="0">
                <a:solidFill>
                  <a:srgbClr val="D6E3F0"/>
                </a:solidFill>
              </a:rPr>
              <a:t>Bennett Trott  •  Flatiron School Data Science  •  Project 3 Showcase</a:t>
            </a:r>
            <a:endParaRPr lang="en-US" sz="950" dirty="0"/>
          </a:p>
        </p:txBody>
      </p:sp>
      <p:sp>
        <p:nvSpPr>
          <p:cNvPr id="7" name="Shape 4"/>
          <p:cNvSpPr/>
          <p:nvPr/>
        </p:nvSpPr>
        <p:spPr>
          <a:xfrm>
            <a:off x="612648" y="5806440"/>
            <a:ext cx="1783080" cy="310896"/>
          </a:xfrm>
          <a:prstGeom prst="roundRect">
            <a:avLst>
              <a:gd name="adj" fmla="val 20588"/>
            </a:avLst>
          </a:prstGeom>
          <a:solidFill>
            <a:srgbClr val="FFB84D">
              <a:alpha val="90000"/>
            </a:srgbClr>
          </a:solidFill>
          <a:ln w="12700">
            <a:solidFill>
              <a:srgbClr val="FFB84D">
                <a:alpha val="0"/>
              </a:srgbClr>
            </a:solidFill>
            <a:prstDash val="solid"/>
          </a:ln>
        </p:spPr>
      </p:sp>
      <p:sp>
        <p:nvSpPr>
          <p:cNvPr id="8" name="Text 5"/>
          <p:cNvSpPr/>
          <p:nvPr/>
        </p:nvSpPr>
        <p:spPr>
          <a:xfrm>
            <a:off x="704088" y="5870448"/>
            <a:ext cx="1600200" cy="146304"/>
          </a:xfrm>
          <a:prstGeom prst="rect">
            <a:avLst/>
          </a:prstGeom>
          <a:noFill/>
          <a:ln/>
        </p:spPr>
        <p:txBody>
          <a:bodyPr wrap="square" lIns="0" tIns="0" rIns="0" bIns="0" rtlCol="0" anchor="ctr"/>
          <a:lstStyle/>
          <a:p>
            <a:pPr algn="ctr" indent="0" marL="0">
              <a:buNone/>
            </a:pPr>
            <a:r>
              <a:rPr lang="en-US" sz="680" b="1" dirty="0">
                <a:solidFill>
                  <a:srgbClr val="03101D"/>
                </a:solidFill>
              </a:rPr>
              <a:t>7–10 minute video guide</a:t>
            </a:r>
            <a:endParaRPr lang="en-US" sz="68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3101D"/>
        </a:solidFill>
      </p:bgPr>
    </p:bg>
    <p:spTree>
      <p:nvGrpSpPr>
        <p:cNvPr id="1" name=""/>
        <p:cNvGrpSpPr/>
        <p:nvPr/>
      </p:nvGrpSpPr>
      <p:grpSpPr>
        <a:xfrm>
          <a:off x="0" y="0"/>
          <a:ext cx="0" cy="0"/>
          <a:chOff x="0" y="0"/>
          <a:chExt cx="0" cy="0"/>
        </a:xfrm>
      </p:grpSpPr>
      <p:pic>
        <p:nvPicPr>
          <p:cNvPr id="2" name="Image 0" descr="/mnt/data/a_wide_cinematic_colorful_illustration_3d_styliz_batch_3.png">    </p:cNvPr>
          <p:cNvPicPr>
            <a:picLocks noChangeAspect="1"/>
          </p:cNvPicPr>
          <p:nvPr/>
        </p:nvPicPr>
        <p:blipFill>
          <a:blip r:embed="rId1"/>
          <a:stretch>
            <a:fillRect/>
          </a:stretch>
        </p:blipFill>
        <p:spPr>
          <a:xfrm>
            <a:off x="6629400" y="1417320"/>
            <a:ext cx="4892040" cy="2752344"/>
          </a:xfrm>
          <a:prstGeom prst="rect">
            <a:avLst/>
          </a:prstGeom>
        </p:spPr>
      </p:pic>
      <p:sp>
        <p:nvSpPr>
          <p:cNvPr id="3" name="Text 0"/>
          <p:cNvSpPr/>
          <p:nvPr/>
        </p:nvSpPr>
        <p:spPr>
          <a:xfrm>
            <a:off x="594360" y="438912"/>
            <a:ext cx="6309360" cy="475488"/>
          </a:xfrm>
          <a:prstGeom prst="rect">
            <a:avLst/>
          </a:prstGeom>
          <a:noFill/>
          <a:ln/>
        </p:spPr>
        <p:txBody>
          <a:bodyPr wrap="square" lIns="0" tIns="0" rIns="0" bIns="0" rtlCol="0" anchor="ctr">
            <a:normAutofit/>
          </a:bodyPr>
          <a:lstStyle/>
          <a:p>
            <a:pPr indent="0" marL="0">
              <a:buNone/>
            </a:pPr>
            <a:r>
              <a:rPr lang="en-US" sz="2600" b="1" dirty="0">
                <a:solidFill>
                  <a:srgbClr val="F7FAFC"/>
                </a:solidFill>
                <a:latin typeface="Aptos Display" pitchFamily="34" charset="0"/>
                <a:ea typeface="Aptos Display" pitchFamily="34" charset="-122"/>
                <a:cs typeface="Aptos Display" pitchFamily="34" charset="-120"/>
              </a:rPr>
              <a:t>The Business Problem</a:t>
            </a:r>
            <a:endParaRPr lang="en-US" sz="2600" dirty="0"/>
          </a:p>
        </p:txBody>
      </p:sp>
      <p:sp>
        <p:nvSpPr>
          <p:cNvPr id="4" name="Text 1"/>
          <p:cNvSpPr/>
          <p:nvPr/>
        </p:nvSpPr>
        <p:spPr>
          <a:xfrm>
            <a:off x="594360" y="941832"/>
            <a:ext cx="6309360" cy="329184"/>
          </a:xfrm>
          <a:prstGeom prst="rect">
            <a:avLst/>
          </a:prstGeom>
          <a:noFill/>
          <a:ln/>
        </p:spPr>
        <p:txBody>
          <a:bodyPr wrap="square" lIns="0" tIns="0" rIns="0" bIns="0" rtlCol="0" anchor="ctr">
            <a:normAutofit/>
          </a:bodyPr>
          <a:lstStyle/>
          <a:p>
            <a:pPr indent="0" marL="0">
              <a:buNone/>
            </a:pPr>
            <a:r>
              <a:rPr lang="en-US" sz="1150" dirty="0">
                <a:solidFill>
                  <a:srgbClr val="35D0E6"/>
                </a:solidFill>
                <a:latin typeface="Aptos" pitchFamily="34" charset="0"/>
                <a:ea typeface="Aptos" pitchFamily="34" charset="-122"/>
                <a:cs typeface="Aptos" pitchFamily="34" charset="-120"/>
              </a:rPr>
              <a:t>Information overload hides the decisions that matter</a:t>
            </a:r>
            <a:endParaRPr lang="en-US" sz="1150" dirty="0"/>
          </a:p>
        </p:txBody>
      </p:sp>
      <p:sp>
        <p:nvSpPr>
          <p:cNvPr id="5" name="Text 2"/>
          <p:cNvSpPr/>
          <p:nvPr/>
        </p:nvSpPr>
        <p:spPr>
          <a:xfrm>
            <a:off x="621792" y="1600200"/>
            <a:ext cx="5349240" cy="758952"/>
          </a:xfrm>
          <a:prstGeom prst="rect">
            <a:avLst/>
          </a:prstGeom>
          <a:noFill/>
          <a:ln/>
        </p:spPr>
        <p:txBody>
          <a:bodyPr wrap="square" lIns="0" tIns="0" rIns="0" bIns="0" rtlCol="0" anchor="ctr">
            <a:normAutofit/>
          </a:bodyPr>
          <a:lstStyle/>
          <a:p>
            <a:pPr indent="0" marL="0">
              <a:buNone/>
            </a:pPr>
            <a:r>
              <a:rPr lang="en-US" sz="1400" b="1" dirty="0">
                <a:solidFill>
                  <a:srgbClr val="F7FAFC"/>
                </a:solidFill>
              </a:rPr>
              <a:t>Fantasy football chats move fast: trades, waiver claims, injuries, lineup questions, and commissioner decisions all compete with jokes and side conversations.</a:t>
            </a:r>
            <a:endParaRPr lang="en-US" sz="1400" dirty="0"/>
          </a:p>
        </p:txBody>
      </p:sp>
      <p:sp>
        <p:nvSpPr>
          <p:cNvPr id="6" name="Text 3"/>
          <p:cNvSpPr/>
          <p:nvPr/>
        </p:nvSpPr>
        <p:spPr>
          <a:xfrm>
            <a:off x="658368" y="2788920"/>
            <a:ext cx="2011680" cy="530352"/>
          </a:xfrm>
          <a:prstGeom prst="rect">
            <a:avLst/>
          </a:prstGeom>
          <a:noFill/>
          <a:ln/>
        </p:spPr>
        <p:txBody>
          <a:bodyPr wrap="square" lIns="0" tIns="0" rIns="0" bIns="0" rtlCol="0" anchor="ctr">
            <a:normAutofit/>
          </a:bodyPr>
          <a:lstStyle/>
          <a:p>
            <a:pPr indent="0" marL="0">
              <a:buNone/>
            </a:pPr>
            <a:r>
              <a:rPr lang="en-US" sz="2500" b="1" dirty="0">
                <a:solidFill>
                  <a:srgbClr val="FF7B2F"/>
                </a:solidFill>
              </a:rPr>
              <a:t>Noise</a:t>
            </a:r>
            <a:endParaRPr lang="en-US" sz="2500" dirty="0"/>
          </a:p>
        </p:txBody>
      </p:sp>
      <p:sp>
        <p:nvSpPr>
          <p:cNvPr id="7" name="Text 4"/>
          <p:cNvSpPr/>
          <p:nvPr/>
        </p:nvSpPr>
        <p:spPr>
          <a:xfrm>
            <a:off x="658368" y="3355848"/>
            <a:ext cx="2148840" cy="393192"/>
          </a:xfrm>
          <a:prstGeom prst="rect">
            <a:avLst/>
          </a:prstGeom>
          <a:noFill/>
          <a:ln/>
        </p:spPr>
        <p:txBody>
          <a:bodyPr wrap="square" lIns="0" tIns="0" rIns="0" bIns="0" rtlCol="0" anchor="ctr">
            <a:normAutofit/>
          </a:bodyPr>
          <a:lstStyle/>
          <a:p>
            <a:pPr indent="0" marL="0">
              <a:buNone/>
            </a:pPr>
            <a:r>
              <a:rPr lang="en-US" sz="860" dirty="0">
                <a:solidFill>
                  <a:srgbClr val="D6E3F0"/>
                </a:solidFill>
              </a:rPr>
              <a:t>too many messages to scan quickly</a:t>
            </a:r>
            <a:endParaRPr lang="en-US" sz="860" dirty="0"/>
          </a:p>
        </p:txBody>
      </p:sp>
      <p:sp>
        <p:nvSpPr>
          <p:cNvPr id="8" name="Text 5"/>
          <p:cNvSpPr/>
          <p:nvPr/>
        </p:nvSpPr>
        <p:spPr>
          <a:xfrm>
            <a:off x="3429000" y="2788920"/>
            <a:ext cx="2011680" cy="530352"/>
          </a:xfrm>
          <a:prstGeom prst="rect">
            <a:avLst/>
          </a:prstGeom>
          <a:noFill/>
          <a:ln/>
        </p:spPr>
        <p:txBody>
          <a:bodyPr wrap="square" lIns="0" tIns="0" rIns="0" bIns="0" rtlCol="0" anchor="ctr">
            <a:normAutofit/>
          </a:bodyPr>
          <a:lstStyle/>
          <a:p>
            <a:pPr indent="0" marL="0">
              <a:buNone/>
            </a:pPr>
            <a:r>
              <a:rPr lang="en-US" sz="2500" b="1" dirty="0">
                <a:solidFill>
                  <a:srgbClr val="FF5C7A"/>
                </a:solidFill>
              </a:rPr>
              <a:t>Risk</a:t>
            </a:r>
            <a:endParaRPr lang="en-US" sz="2500" dirty="0"/>
          </a:p>
        </p:txBody>
      </p:sp>
      <p:sp>
        <p:nvSpPr>
          <p:cNvPr id="9" name="Text 6"/>
          <p:cNvSpPr/>
          <p:nvPr/>
        </p:nvSpPr>
        <p:spPr>
          <a:xfrm>
            <a:off x="3429000" y="3355848"/>
            <a:ext cx="2148840" cy="393192"/>
          </a:xfrm>
          <a:prstGeom prst="rect">
            <a:avLst/>
          </a:prstGeom>
          <a:noFill/>
          <a:ln/>
        </p:spPr>
        <p:txBody>
          <a:bodyPr wrap="square" lIns="0" tIns="0" rIns="0" bIns="0" rtlCol="0" anchor="ctr">
            <a:normAutofit/>
          </a:bodyPr>
          <a:lstStyle/>
          <a:p>
            <a:pPr indent="0" marL="0">
              <a:buNone/>
            </a:pPr>
            <a:r>
              <a:rPr lang="en-US" sz="860" dirty="0">
                <a:solidFill>
                  <a:srgbClr val="D6E3F0"/>
                </a:solidFill>
              </a:rPr>
              <a:t>missed waivers, votes, or trade context</a:t>
            </a:r>
            <a:endParaRPr lang="en-US" sz="860" dirty="0"/>
          </a:p>
        </p:txBody>
      </p:sp>
      <p:sp>
        <p:nvSpPr>
          <p:cNvPr id="10" name="Text 7"/>
          <p:cNvSpPr/>
          <p:nvPr/>
        </p:nvSpPr>
        <p:spPr>
          <a:xfrm>
            <a:off x="658368" y="3886200"/>
            <a:ext cx="2011680" cy="530352"/>
          </a:xfrm>
          <a:prstGeom prst="rect">
            <a:avLst/>
          </a:prstGeom>
          <a:noFill/>
          <a:ln/>
        </p:spPr>
        <p:txBody>
          <a:bodyPr wrap="square" lIns="0" tIns="0" rIns="0" bIns="0" rtlCol="0" anchor="ctr">
            <a:normAutofit/>
          </a:bodyPr>
          <a:lstStyle/>
          <a:p>
            <a:pPr indent="0" marL="0">
              <a:buNone/>
            </a:pPr>
            <a:r>
              <a:rPr lang="en-US" sz="2500" b="1" dirty="0">
                <a:solidFill>
                  <a:srgbClr val="66E38E"/>
                </a:solidFill>
              </a:rPr>
              <a:t>Value</a:t>
            </a:r>
            <a:endParaRPr lang="en-US" sz="2500" dirty="0"/>
          </a:p>
        </p:txBody>
      </p:sp>
      <p:sp>
        <p:nvSpPr>
          <p:cNvPr id="11" name="Text 8"/>
          <p:cNvSpPr/>
          <p:nvPr/>
        </p:nvSpPr>
        <p:spPr>
          <a:xfrm>
            <a:off x="658368" y="4453128"/>
            <a:ext cx="2148840" cy="393192"/>
          </a:xfrm>
          <a:prstGeom prst="rect">
            <a:avLst/>
          </a:prstGeom>
          <a:noFill/>
          <a:ln/>
        </p:spPr>
        <p:txBody>
          <a:bodyPr wrap="square" lIns="0" tIns="0" rIns="0" bIns="0" rtlCol="0" anchor="ctr">
            <a:normAutofit/>
          </a:bodyPr>
          <a:lstStyle/>
          <a:p>
            <a:pPr indent="0" marL="0">
              <a:buNone/>
            </a:pPr>
            <a:r>
              <a:rPr lang="en-US" sz="860" dirty="0">
                <a:solidFill>
                  <a:srgbClr val="D6E3F0"/>
                </a:solidFill>
              </a:rPr>
              <a:t>faster catch-up with better context</a:t>
            </a:r>
            <a:endParaRPr lang="en-US" sz="860" dirty="0"/>
          </a:p>
        </p:txBody>
      </p:sp>
      <p:sp>
        <p:nvSpPr>
          <p:cNvPr id="12" name="Shape 9"/>
          <p:cNvSpPr/>
          <p:nvPr/>
        </p:nvSpPr>
        <p:spPr>
          <a:xfrm>
            <a:off x="658368" y="5111496"/>
            <a:ext cx="109728" cy="109728"/>
          </a:xfrm>
          <a:prstGeom prst="ellipse">
            <a:avLst/>
          </a:prstGeom>
          <a:solidFill>
            <a:srgbClr val="35D0E6"/>
          </a:solidFill>
          <a:ln w="12700">
            <a:solidFill>
              <a:srgbClr val="35D0E6">
                <a:alpha val="0"/>
              </a:srgbClr>
            </a:solidFill>
            <a:prstDash val="solid"/>
          </a:ln>
        </p:spPr>
      </p:sp>
      <p:sp>
        <p:nvSpPr>
          <p:cNvPr id="13" name="Text 10"/>
          <p:cNvSpPr/>
          <p:nvPr/>
        </p:nvSpPr>
        <p:spPr>
          <a:xfrm>
            <a:off x="859536" y="5074920"/>
            <a:ext cx="5303520" cy="384048"/>
          </a:xfrm>
          <a:prstGeom prst="rect">
            <a:avLst/>
          </a:prstGeom>
          <a:noFill/>
          <a:ln/>
        </p:spPr>
        <p:txBody>
          <a:bodyPr wrap="square" lIns="0" tIns="0" rIns="0" bIns="0" rtlCol="0" anchor="ctr">
            <a:normAutofit/>
          </a:bodyPr>
          <a:lstStyle/>
          <a:p>
            <a:pPr indent="0" marL="0">
              <a:buNone/>
            </a:pPr>
            <a:r>
              <a:rPr lang="en-US" sz="1100" dirty="0">
                <a:solidFill>
                  <a:srgbClr val="D6E3F0"/>
                </a:solidFill>
              </a:rPr>
              <a:t>Goal: convert league conversations into concise, readable catch-up briefs.</a:t>
            </a:r>
            <a:endParaRPr lang="en-US" sz="1100" dirty="0"/>
          </a:p>
        </p:txBody>
      </p:sp>
      <p:sp>
        <p:nvSpPr>
          <p:cNvPr id="14" name="Shape 11"/>
          <p:cNvSpPr/>
          <p:nvPr/>
        </p:nvSpPr>
        <p:spPr>
          <a:xfrm>
            <a:off x="658368" y="5568696"/>
            <a:ext cx="109728" cy="109728"/>
          </a:xfrm>
          <a:prstGeom prst="ellipse">
            <a:avLst/>
          </a:prstGeom>
          <a:solidFill>
            <a:srgbClr val="FFB84D"/>
          </a:solidFill>
          <a:ln w="12700">
            <a:solidFill>
              <a:srgbClr val="FFB84D">
                <a:alpha val="0"/>
              </a:srgbClr>
            </a:solidFill>
            <a:prstDash val="solid"/>
          </a:ln>
        </p:spPr>
      </p:sp>
      <p:sp>
        <p:nvSpPr>
          <p:cNvPr id="15" name="Text 12"/>
          <p:cNvSpPr/>
          <p:nvPr/>
        </p:nvSpPr>
        <p:spPr>
          <a:xfrm>
            <a:off x="859536" y="5532120"/>
            <a:ext cx="5303520" cy="384048"/>
          </a:xfrm>
          <a:prstGeom prst="rect">
            <a:avLst/>
          </a:prstGeom>
          <a:noFill/>
          <a:ln/>
        </p:spPr>
        <p:txBody>
          <a:bodyPr wrap="square" lIns="0" tIns="0" rIns="0" bIns="0" rtlCol="0" anchor="ctr">
            <a:normAutofit/>
          </a:bodyPr>
          <a:lstStyle/>
          <a:p>
            <a:pPr indent="0" marL="0">
              <a:buNone/>
            </a:pPr>
            <a:r>
              <a:rPr lang="en-US" sz="1100" dirty="0">
                <a:solidFill>
                  <a:srgbClr val="D6E3F0"/>
                </a:solidFill>
              </a:rPr>
              <a:t>Stakeholder: busy fantasy managers who need the main point fast.</a:t>
            </a:r>
            <a:endParaRPr lang="en-US" sz="1100" dirty="0"/>
          </a:p>
        </p:txBody>
      </p:sp>
      <p:sp>
        <p:nvSpPr>
          <p:cNvPr id="16" name="Shape 13"/>
          <p:cNvSpPr/>
          <p:nvPr/>
        </p:nvSpPr>
        <p:spPr>
          <a:xfrm>
            <a:off x="594360" y="6473952"/>
            <a:ext cx="10972800" cy="0"/>
          </a:xfrm>
          <a:prstGeom prst="line">
            <a:avLst/>
          </a:prstGeom>
          <a:noFill/>
          <a:ln w="7620">
            <a:solidFill>
              <a:srgbClr val="33506A">
                <a:alpha val="60000"/>
              </a:srgbClr>
            </a:solidFill>
            <a:prstDash val="solid"/>
          </a:ln>
        </p:spPr>
      </p:sp>
      <p:sp>
        <p:nvSpPr>
          <p:cNvPr id="17" name="Text 14"/>
          <p:cNvSpPr/>
          <p:nvPr/>
        </p:nvSpPr>
        <p:spPr>
          <a:xfrm>
            <a:off x="594360" y="6565392"/>
            <a:ext cx="3840480" cy="146304"/>
          </a:xfrm>
          <a:prstGeom prst="rect">
            <a:avLst/>
          </a:prstGeom>
          <a:noFill/>
          <a:ln/>
        </p:spPr>
        <p:txBody>
          <a:bodyPr wrap="square" lIns="0" tIns="0" rIns="0" bIns="0" rtlCol="0" anchor="ctr"/>
          <a:lstStyle/>
          <a:p>
            <a:pPr indent="0" marL="0">
              <a:buNone/>
            </a:pPr>
            <a:r>
              <a:rPr lang="en-US" sz="680" dirty="0">
                <a:solidFill>
                  <a:srgbClr val="9FB3C8"/>
                </a:solidFill>
              </a:rPr>
              <a:t>Gridiron Brief  |  Project 3 Showcase</a:t>
            </a:r>
            <a:endParaRPr lang="en-US" sz="680" dirty="0"/>
          </a:p>
        </p:txBody>
      </p:sp>
      <p:sp>
        <p:nvSpPr>
          <p:cNvPr id="18" name="Text 15"/>
          <p:cNvSpPr/>
          <p:nvPr/>
        </p:nvSpPr>
        <p:spPr>
          <a:xfrm>
            <a:off x="11119104" y="6565392"/>
            <a:ext cx="457200" cy="146304"/>
          </a:xfrm>
          <a:prstGeom prst="rect">
            <a:avLst/>
          </a:prstGeom>
          <a:noFill/>
          <a:ln/>
        </p:spPr>
        <p:txBody>
          <a:bodyPr wrap="square" lIns="0" tIns="0" rIns="0" bIns="0" rtlCol="0" anchor="ctr"/>
          <a:lstStyle/>
          <a:p>
            <a:pPr algn="r" indent="0" marL="0">
              <a:buNone/>
            </a:pPr>
            <a:r>
              <a:rPr lang="en-US" sz="680" dirty="0">
                <a:solidFill>
                  <a:srgbClr val="9FB3C8"/>
                </a:solidFill>
              </a:rPr>
              <a:t>2/8</a:t>
            </a:r>
            <a:endParaRPr lang="en-US" sz="68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3101D"/>
        </a:solidFill>
      </p:bgPr>
    </p:bg>
    <p:spTree>
      <p:nvGrpSpPr>
        <p:cNvPr id="1" name=""/>
        <p:cNvGrpSpPr/>
        <p:nvPr/>
      </p:nvGrpSpPr>
      <p:grpSpPr>
        <a:xfrm>
          <a:off x="0" y="0"/>
          <a:ext cx="0" cy="0"/>
          <a:chOff x="0" y="0"/>
          <a:chExt cx="0" cy="0"/>
        </a:xfrm>
      </p:grpSpPr>
      <p:sp>
        <p:nvSpPr>
          <p:cNvPr id="2" name="Text 0"/>
          <p:cNvSpPr/>
          <p:nvPr/>
        </p:nvSpPr>
        <p:spPr>
          <a:xfrm>
            <a:off x="594360" y="438912"/>
            <a:ext cx="7863840" cy="475488"/>
          </a:xfrm>
          <a:prstGeom prst="rect">
            <a:avLst/>
          </a:prstGeom>
          <a:noFill/>
          <a:ln/>
        </p:spPr>
        <p:txBody>
          <a:bodyPr wrap="square" lIns="0" tIns="0" rIns="0" bIns="0" rtlCol="0" anchor="ctr">
            <a:normAutofit/>
          </a:bodyPr>
          <a:lstStyle/>
          <a:p>
            <a:pPr indent="0" marL="0">
              <a:buNone/>
            </a:pPr>
            <a:r>
              <a:rPr lang="en-US" sz="2600" b="1" dirty="0">
                <a:solidFill>
                  <a:srgbClr val="F7FAFC"/>
                </a:solidFill>
                <a:latin typeface="Aptos Display" pitchFamily="34" charset="0"/>
                <a:ea typeface="Aptos Display" pitchFamily="34" charset="-122"/>
                <a:cs typeface="Aptos Display" pitchFamily="34" charset="-120"/>
              </a:rPr>
              <a:t>Objectives &amp; Success Criteria</a:t>
            </a:r>
            <a:endParaRPr lang="en-US" sz="2600" dirty="0"/>
          </a:p>
        </p:txBody>
      </p:sp>
      <p:sp>
        <p:nvSpPr>
          <p:cNvPr id="3" name="Text 1"/>
          <p:cNvSpPr/>
          <p:nvPr/>
        </p:nvSpPr>
        <p:spPr>
          <a:xfrm>
            <a:off x="594360" y="941832"/>
            <a:ext cx="7863840" cy="329184"/>
          </a:xfrm>
          <a:prstGeom prst="rect">
            <a:avLst/>
          </a:prstGeom>
          <a:noFill/>
          <a:ln/>
        </p:spPr>
        <p:txBody>
          <a:bodyPr wrap="square" lIns="0" tIns="0" rIns="0" bIns="0" rtlCol="0" anchor="ctr">
            <a:normAutofit/>
          </a:bodyPr>
          <a:lstStyle/>
          <a:p>
            <a:pPr indent="0" marL="0">
              <a:buNone/>
            </a:pPr>
            <a:r>
              <a:rPr lang="en-US" sz="1150" dirty="0">
                <a:solidFill>
                  <a:srgbClr val="35D0E6"/>
                </a:solidFill>
                <a:latin typeface="Aptos" pitchFamily="34" charset="0"/>
                <a:ea typeface="Aptos" pitchFamily="34" charset="-122"/>
                <a:cs typeface="Aptos" pitchFamily="34" charset="-120"/>
              </a:rPr>
              <a:t>A useful summarizer needs both score improvement and factual discipline</a:t>
            </a:r>
            <a:endParaRPr lang="en-US" sz="1150" dirty="0"/>
          </a:p>
        </p:txBody>
      </p:sp>
      <p:sp>
        <p:nvSpPr>
          <p:cNvPr id="4" name="Text 2"/>
          <p:cNvSpPr/>
          <p:nvPr/>
        </p:nvSpPr>
        <p:spPr>
          <a:xfrm>
            <a:off x="658368" y="1554480"/>
            <a:ext cx="2194560" cy="228600"/>
          </a:xfrm>
          <a:prstGeom prst="rect">
            <a:avLst/>
          </a:prstGeom>
          <a:noFill/>
          <a:ln/>
        </p:spPr>
        <p:txBody>
          <a:bodyPr wrap="square" lIns="0" tIns="0" rIns="0" bIns="0" rtlCol="0" anchor="ctr"/>
          <a:lstStyle/>
          <a:p>
            <a:pPr indent="0" marL="0">
              <a:buNone/>
            </a:pPr>
            <a:r>
              <a:rPr lang="en-US" sz="1100" b="1" dirty="0">
                <a:solidFill>
                  <a:srgbClr val="35D0E6"/>
                </a:solidFill>
              </a:rPr>
              <a:t>Primary objective</a:t>
            </a:r>
            <a:endParaRPr lang="en-US" sz="1100" dirty="0"/>
          </a:p>
        </p:txBody>
      </p:sp>
      <p:sp>
        <p:nvSpPr>
          <p:cNvPr id="5" name="Text 3"/>
          <p:cNvSpPr/>
          <p:nvPr/>
        </p:nvSpPr>
        <p:spPr>
          <a:xfrm>
            <a:off x="658368" y="1865376"/>
            <a:ext cx="4937760" cy="640080"/>
          </a:xfrm>
          <a:prstGeom prst="rect">
            <a:avLst/>
          </a:prstGeom>
          <a:noFill/>
          <a:ln/>
        </p:spPr>
        <p:txBody>
          <a:bodyPr wrap="square" lIns="0" tIns="0" rIns="0" bIns="0" rtlCol="0" anchor="ctr">
            <a:normAutofit/>
          </a:bodyPr>
          <a:lstStyle/>
          <a:p>
            <a:pPr indent="0" marL="0">
              <a:buNone/>
            </a:pPr>
            <a:r>
              <a:rPr lang="en-US" sz="1300" b="1" dirty="0">
                <a:solidFill>
                  <a:srgbClr val="F7FAFC"/>
                </a:solidFill>
              </a:rPr>
              <a:t>Build a BERT-based encoder-decoder system that summarizes SAMSum dialogues and transfers to fantasy-football league chat examples.</a:t>
            </a:r>
            <a:endParaRPr lang="en-US" sz="1300" dirty="0"/>
          </a:p>
        </p:txBody>
      </p:sp>
      <p:sp>
        <p:nvSpPr>
          <p:cNvPr id="6" name="Shape 4"/>
          <p:cNvSpPr/>
          <p:nvPr/>
        </p:nvSpPr>
        <p:spPr>
          <a:xfrm>
            <a:off x="658368" y="2880360"/>
            <a:ext cx="2971800" cy="804672"/>
          </a:xfrm>
          <a:prstGeom prst="roundRect">
            <a:avLst>
              <a:gd name="adj" fmla="val 9091"/>
            </a:avLst>
          </a:prstGeom>
          <a:solidFill>
            <a:srgbClr val="09263A">
              <a:alpha val="95000"/>
            </a:srgbClr>
          </a:solidFill>
          <a:ln w="13970">
            <a:solidFill>
              <a:srgbClr val="35D0E6">
                <a:alpha val="80000"/>
              </a:srgbClr>
            </a:solidFill>
            <a:prstDash val="solid"/>
          </a:ln>
        </p:spPr>
      </p:sp>
      <p:sp>
        <p:nvSpPr>
          <p:cNvPr id="7" name="Text 5"/>
          <p:cNvSpPr/>
          <p:nvPr/>
        </p:nvSpPr>
        <p:spPr>
          <a:xfrm>
            <a:off x="786384" y="2999232"/>
            <a:ext cx="2715768" cy="219456"/>
          </a:xfrm>
          <a:prstGeom prst="rect">
            <a:avLst/>
          </a:prstGeom>
          <a:noFill/>
          <a:ln/>
        </p:spPr>
        <p:txBody>
          <a:bodyPr wrap="square" lIns="0" tIns="0" rIns="0" bIns="0" rtlCol="0" anchor="ctr">
            <a:normAutofit/>
          </a:bodyPr>
          <a:lstStyle/>
          <a:p>
            <a:pPr indent="0" marL="0">
              <a:buNone/>
            </a:pPr>
            <a:r>
              <a:rPr lang="en-US" sz="920" b="1" dirty="0">
                <a:solidFill>
                  <a:srgbClr val="35D0E6"/>
                </a:solidFill>
              </a:rPr>
              <a:t>ROUGE targets</a:t>
            </a:r>
            <a:endParaRPr lang="en-US" sz="920" dirty="0"/>
          </a:p>
        </p:txBody>
      </p:sp>
      <p:sp>
        <p:nvSpPr>
          <p:cNvPr id="8" name="Text 6"/>
          <p:cNvSpPr/>
          <p:nvPr/>
        </p:nvSpPr>
        <p:spPr>
          <a:xfrm>
            <a:off x="786384" y="3273552"/>
            <a:ext cx="2715768" cy="237744"/>
          </a:xfrm>
          <a:prstGeom prst="rect">
            <a:avLst/>
          </a:prstGeom>
          <a:noFill/>
          <a:ln/>
        </p:spPr>
        <p:txBody>
          <a:bodyPr wrap="square" lIns="0" tIns="0" rIns="0" bIns="0" rtlCol="0" anchor="ctr">
            <a:normAutofit/>
          </a:bodyPr>
          <a:lstStyle/>
          <a:p>
            <a:pPr indent="0" marL="0">
              <a:buNone/>
            </a:pPr>
            <a:r>
              <a:rPr lang="en-US" sz="750" dirty="0">
                <a:solidFill>
                  <a:srgbClr val="D6E3F0"/>
                </a:solidFill>
              </a:rPr>
              <a:t>R-1 ≥ 35, R-2 ≥ 12, R-L ≥ 32</a:t>
            </a:r>
            <a:endParaRPr lang="en-US" sz="750" dirty="0"/>
          </a:p>
        </p:txBody>
      </p:sp>
      <p:sp>
        <p:nvSpPr>
          <p:cNvPr id="9" name="Shape 7"/>
          <p:cNvSpPr/>
          <p:nvPr/>
        </p:nvSpPr>
        <p:spPr>
          <a:xfrm>
            <a:off x="3886200" y="2880360"/>
            <a:ext cx="2971800" cy="804672"/>
          </a:xfrm>
          <a:prstGeom prst="roundRect">
            <a:avLst>
              <a:gd name="adj" fmla="val 9091"/>
            </a:avLst>
          </a:prstGeom>
          <a:solidFill>
            <a:srgbClr val="09263A">
              <a:alpha val="95000"/>
            </a:srgbClr>
          </a:solidFill>
          <a:ln w="13970">
            <a:solidFill>
              <a:srgbClr val="FFB84D">
                <a:alpha val="80000"/>
              </a:srgbClr>
            </a:solidFill>
            <a:prstDash val="solid"/>
          </a:ln>
        </p:spPr>
      </p:sp>
      <p:sp>
        <p:nvSpPr>
          <p:cNvPr id="10" name="Text 8"/>
          <p:cNvSpPr/>
          <p:nvPr/>
        </p:nvSpPr>
        <p:spPr>
          <a:xfrm>
            <a:off x="4014216" y="2999232"/>
            <a:ext cx="2715768" cy="219456"/>
          </a:xfrm>
          <a:prstGeom prst="rect">
            <a:avLst/>
          </a:prstGeom>
          <a:noFill/>
          <a:ln/>
        </p:spPr>
        <p:txBody>
          <a:bodyPr wrap="square" lIns="0" tIns="0" rIns="0" bIns="0" rtlCol="0" anchor="ctr">
            <a:normAutofit/>
          </a:bodyPr>
          <a:lstStyle/>
          <a:p>
            <a:pPr indent="0" marL="0">
              <a:buNone/>
            </a:pPr>
            <a:r>
              <a:rPr lang="en-US" sz="920" b="1" dirty="0">
                <a:solidFill>
                  <a:srgbClr val="FFB84D"/>
                </a:solidFill>
              </a:rPr>
              <a:t>Human review</a:t>
            </a:r>
            <a:endParaRPr lang="en-US" sz="920" dirty="0"/>
          </a:p>
        </p:txBody>
      </p:sp>
      <p:sp>
        <p:nvSpPr>
          <p:cNvPr id="11" name="Text 9"/>
          <p:cNvSpPr/>
          <p:nvPr/>
        </p:nvSpPr>
        <p:spPr>
          <a:xfrm>
            <a:off x="4014216" y="3273552"/>
            <a:ext cx="2715768" cy="237744"/>
          </a:xfrm>
          <a:prstGeom prst="rect">
            <a:avLst/>
          </a:prstGeom>
          <a:noFill/>
          <a:ln/>
        </p:spPr>
        <p:txBody>
          <a:bodyPr wrap="square" lIns="0" tIns="0" rIns="0" bIns="0" rtlCol="0" anchor="ctr">
            <a:normAutofit/>
          </a:bodyPr>
          <a:lstStyle/>
          <a:p>
            <a:pPr indent="0" marL="0">
              <a:buNone/>
            </a:pPr>
            <a:r>
              <a:rPr lang="en-US" sz="750" dirty="0">
                <a:solidFill>
                  <a:srgbClr val="D6E3F0"/>
                </a:solidFill>
              </a:rPr>
              <a:t>main idea, factual support, readability</a:t>
            </a:r>
            <a:endParaRPr lang="en-US" sz="750" dirty="0"/>
          </a:p>
        </p:txBody>
      </p:sp>
      <p:sp>
        <p:nvSpPr>
          <p:cNvPr id="12" name="Shape 10"/>
          <p:cNvSpPr/>
          <p:nvPr/>
        </p:nvSpPr>
        <p:spPr>
          <a:xfrm>
            <a:off x="7114032" y="2880360"/>
            <a:ext cx="3154680" cy="804672"/>
          </a:xfrm>
          <a:prstGeom prst="roundRect">
            <a:avLst>
              <a:gd name="adj" fmla="val 9091"/>
            </a:avLst>
          </a:prstGeom>
          <a:solidFill>
            <a:srgbClr val="09263A">
              <a:alpha val="95000"/>
            </a:srgbClr>
          </a:solidFill>
          <a:ln w="13970">
            <a:solidFill>
              <a:srgbClr val="66E38E">
                <a:alpha val="80000"/>
              </a:srgbClr>
            </a:solidFill>
            <a:prstDash val="solid"/>
          </a:ln>
        </p:spPr>
      </p:sp>
      <p:sp>
        <p:nvSpPr>
          <p:cNvPr id="13" name="Text 11"/>
          <p:cNvSpPr/>
          <p:nvPr/>
        </p:nvSpPr>
        <p:spPr>
          <a:xfrm>
            <a:off x="7242048" y="2999232"/>
            <a:ext cx="2898648" cy="219456"/>
          </a:xfrm>
          <a:prstGeom prst="rect">
            <a:avLst/>
          </a:prstGeom>
          <a:noFill/>
          <a:ln/>
        </p:spPr>
        <p:txBody>
          <a:bodyPr wrap="square" lIns="0" tIns="0" rIns="0" bIns="0" rtlCol="0" anchor="ctr">
            <a:normAutofit/>
          </a:bodyPr>
          <a:lstStyle/>
          <a:p>
            <a:pPr indent="0" marL="0">
              <a:buNone/>
            </a:pPr>
            <a:r>
              <a:rPr lang="en-US" sz="920" b="1" dirty="0">
                <a:solidFill>
                  <a:srgbClr val="66E38E"/>
                </a:solidFill>
              </a:rPr>
              <a:t>Product usefulness</a:t>
            </a:r>
            <a:endParaRPr lang="en-US" sz="920" dirty="0"/>
          </a:p>
        </p:txBody>
      </p:sp>
      <p:sp>
        <p:nvSpPr>
          <p:cNvPr id="14" name="Text 12"/>
          <p:cNvSpPr/>
          <p:nvPr/>
        </p:nvSpPr>
        <p:spPr>
          <a:xfrm>
            <a:off x="7242048" y="3273552"/>
            <a:ext cx="2898648" cy="237744"/>
          </a:xfrm>
          <a:prstGeom prst="rect">
            <a:avLst/>
          </a:prstGeom>
          <a:noFill/>
          <a:ln/>
        </p:spPr>
        <p:txBody>
          <a:bodyPr wrap="square" lIns="0" tIns="0" rIns="0" bIns="0" rtlCol="0" anchor="ctr">
            <a:normAutofit/>
          </a:bodyPr>
          <a:lstStyle/>
          <a:p>
            <a:pPr indent="0" marL="0">
              <a:buNone/>
            </a:pPr>
            <a:r>
              <a:rPr lang="en-US" sz="750" dirty="0">
                <a:solidFill>
                  <a:srgbClr val="D6E3F0"/>
                </a:solidFill>
              </a:rPr>
              <a:t>future target: 4.0/5 user value rating</a:t>
            </a:r>
            <a:endParaRPr lang="en-US" sz="750" dirty="0"/>
          </a:p>
        </p:txBody>
      </p:sp>
      <p:sp>
        <p:nvSpPr>
          <p:cNvPr id="15" name="Shape 13"/>
          <p:cNvSpPr/>
          <p:nvPr/>
        </p:nvSpPr>
        <p:spPr>
          <a:xfrm>
            <a:off x="1920240" y="4206240"/>
            <a:ext cx="7863840" cy="0"/>
          </a:xfrm>
          <a:prstGeom prst="line">
            <a:avLst/>
          </a:prstGeom>
          <a:noFill/>
          <a:ln w="12700">
            <a:solidFill>
              <a:srgbClr val="35D0E6">
                <a:alpha val="80000"/>
              </a:srgbClr>
            </a:solidFill>
            <a:prstDash val="solid"/>
            <a:headEnd type="none"/>
            <a:tailEnd type="triangle"/>
          </a:ln>
        </p:spPr>
      </p:sp>
      <p:sp>
        <p:nvSpPr>
          <p:cNvPr id="16" name="Text 14"/>
          <p:cNvSpPr/>
          <p:nvPr/>
        </p:nvSpPr>
        <p:spPr>
          <a:xfrm>
            <a:off x="658368" y="4617720"/>
            <a:ext cx="1828800" cy="219456"/>
          </a:xfrm>
          <a:prstGeom prst="rect">
            <a:avLst/>
          </a:prstGeom>
          <a:noFill/>
          <a:ln/>
        </p:spPr>
        <p:txBody>
          <a:bodyPr wrap="square" lIns="0" tIns="0" rIns="0" bIns="0" rtlCol="0" anchor="ctr"/>
          <a:lstStyle/>
          <a:p>
            <a:pPr algn="ctr" indent="0" marL="0">
              <a:buNone/>
            </a:pPr>
            <a:r>
              <a:rPr lang="en-US" sz="820" dirty="0">
                <a:solidFill>
                  <a:srgbClr val="D6E3F0"/>
                </a:solidFill>
              </a:rPr>
              <a:t>Business framing</a:t>
            </a:r>
            <a:endParaRPr lang="en-US" sz="820" dirty="0"/>
          </a:p>
        </p:txBody>
      </p:sp>
      <p:sp>
        <p:nvSpPr>
          <p:cNvPr id="17" name="Text 15"/>
          <p:cNvSpPr/>
          <p:nvPr/>
        </p:nvSpPr>
        <p:spPr>
          <a:xfrm>
            <a:off x="2880360" y="4617720"/>
            <a:ext cx="1828800" cy="219456"/>
          </a:xfrm>
          <a:prstGeom prst="rect">
            <a:avLst/>
          </a:prstGeom>
          <a:noFill/>
          <a:ln/>
        </p:spPr>
        <p:txBody>
          <a:bodyPr wrap="square" lIns="0" tIns="0" rIns="0" bIns="0" rtlCol="0" anchor="ctr"/>
          <a:lstStyle/>
          <a:p>
            <a:pPr algn="ctr" indent="0" marL="0">
              <a:buNone/>
            </a:pPr>
            <a:r>
              <a:rPr lang="en-US" sz="820" dirty="0">
                <a:solidFill>
                  <a:srgbClr val="D6E3F0"/>
                </a:solidFill>
              </a:rPr>
              <a:t>Model training</a:t>
            </a:r>
            <a:endParaRPr lang="en-US" sz="820" dirty="0"/>
          </a:p>
        </p:txBody>
      </p:sp>
      <p:sp>
        <p:nvSpPr>
          <p:cNvPr id="18" name="Text 16"/>
          <p:cNvSpPr/>
          <p:nvPr/>
        </p:nvSpPr>
        <p:spPr>
          <a:xfrm>
            <a:off x="5074920" y="4617720"/>
            <a:ext cx="1828800" cy="219456"/>
          </a:xfrm>
          <a:prstGeom prst="rect">
            <a:avLst/>
          </a:prstGeom>
          <a:noFill/>
          <a:ln/>
        </p:spPr>
        <p:txBody>
          <a:bodyPr wrap="square" lIns="0" tIns="0" rIns="0" bIns="0" rtlCol="0" anchor="ctr"/>
          <a:lstStyle/>
          <a:p>
            <a:pPr algn="ctr" indent="0" marL="0">
              <a:buNone/>
            </a:pPr>
            <a:r>
              <a:rPr lang="en-US" sz="820" dirty="0">
                <a:solidFill>
                  <a:srgbClr val="D6E3F0"/>
                </a:solidFill>
              </a:rPr>
              <a:t>Evaluation</a:t>
            </a:r>
            <a:endParaRPr lang="en-US" sz="820" dirty="0"/>
          </a:p>
        </p:txBody>
      </p:sp>
      <p:sp>
        <p:nvSpPr>
          <p:cNvPr id="19" name="Text 17"/>
          <p:cNvSpPr/>
          <p:nvPr/>
        </p:nvSpPr>
        <p:spPr>
          <a:xfrm>
            <a:off x="7269480" y="4617720"/>
            <a:ext cx="2103120" cy="219456"/>
          </a:xfrm>
          <a:prstGeom prst="rect">
            <a:avLst/>
          </a:prstGeom>
          <a:noFill/>
          <a:ln/>
        </p:spPr>
        <p:txBody>
          <a:bodyPr wrap="square" lIns="0" tIns="0" rIns="0" bIns="0" rtlCol="0" anchor="ctr"/>
          <a:lstStyle/>
          <a:p>
            <a:pPr algn="ctr" indent="0" marL="0">
              <a:buNone/>
            </a:pPr>
            <a:r>
              <a:rPr lang="en-US" sz="820" dirty="0">
                <a:solidFill>
                  <a:srgbClr val="D6E3F0"/>
                </a:solidFill>
              </a:rPr>
              <a:t>Deployment judgment</a:t>
            </a:r>
            <a:endParaRPr lang="en-US" sz="820" dirty="0"/>
          </a:p>
        </p:txBody>
      </p:sp>
      <p:sp>
        <p:nvSpPr>
          <p:cNvPr id="20" name="Text 18"/>
          <p:cNvSpPr/>
          <p:nvPr/>
        </p:nvSpPr>
        <p:spPr>
          <a:xfrm>
            <a:off x="658368" y="5504688"/>
            <a:ext cx="9692640" cy="310896"/>
          </a:xfrm>
          <a:prstGeom prst="rect">
            <a:avLst/>
          </a:prstGeom>
          <a:noFill/>
          <a:ln/>
        </p:spPr>
        <p:txBody>
          <a:bodyPr wrap="square" lIns="0" tIns="0" rIns="0" bIns="0" rtlCol="0" anchor="ctr">
            <a:normAutofit/>
          </a:bodyPr>
          <a:lstStyle/>
          <a:p>
            <a:pPr indent="0" marL="0">
              <a:buNone/>
            </a:pPr>
            <a:r>
              <a:rPr lang="en-US" sz="1300" b="1" dirty="0">
                <a:solidFill>
                  <a:srgbClr val="F7FAFC"/>
                </a:solidFill>
              </a:rPr>
              <a:t>Key idea: high ROUGE is helpful, but it is not enough if summaries invent people or actions.</a:t>
            </a:r>
            <a:endParaRPr lang="en-US" sz="1300" dirty="0"/>
          </a:p>
        </p:txBody>
      </p:sp>
      <p:sp>
        <p:nvSpPr>
          <p:cNvPr id="21" name="Shape 19"/>
          <p:cNvSpPr/>
          <p:nvPr/>
        </p:nvSpPr>
        <p:spPr>
          <a:xfrm>
            <a:off x="594360" y="6473952"/>
            <a:ext cx="10972800" cy="0"/>
          </a:xfrm>
          <a:prstGeom prst="line">
            <a:avLst/>
          </a:prstGeom>
          <a:noFill/>
          <a:ln w="7620">
            <a:solidFill>
              <a:srgbClr val="33506A">
                <a:alpha val="60000"/>
              </a:srgbClr>
            </a:solidFill>
            <a:prstDash val="solid"/>
          </a:ln>
        </p:spPr>
      </p:sp>
      <p:sp>
        <p:nvSpPr>
          <p:cNvPr id="22" name="Text 20"/>
          <p:cNvSpPr/>
          <p:nvPr/>
        </p:nvSpPr>
        <p:spPr>
          <a:xfrm>
            <a:off x="594360" y="6565392"/>
            <a:ext cx="3840480" cy="146304"/>
          </a:xfrm>
          <a:prstGeom prst="rect">
            <a:avLst/>
          </a:prstGeom>
          <a:noFill/>
          <a:ln/>
        </p:spPr>
        <p:txBody>
          <a:bodyPr wrap="square" lIns="0" tIns="0" rIns="0" bIns="0" rtlCol="0" anchor="ctr"/>
          <a:lstStyle/>
          <a:p>
            <a:pPr indent="0" marL="0">
              <a:buNone/>
            </a:pPr>
            <a:r>
              <a:rPr lang="en-US" sz="680" dirty="0">
                <a:solidFill>
                  <a:srgbClr val="9FB3C8"/>
                </a:solidFill>
              </a:rPr>
              <a:t>Gridiron Brief  |  Project 3 Showcase</a:t>
            </a:r>
            <a:endParaRPr lang="en-US" sz="680" dirty="0"/>
          </a:p>
        </p:txBody>
      </p:sp>
      <p:sp>
        <p:nvSpPr>
          <p:cNvPr id="23" name="Text 21"/>
          <p:cNvSpPr/>
          <p:nvPr/>
        </p:nvSpPr>
        <p:spPr>
          <a:xfrm>
            <a:off x="11119104" y="6565392"/>
            <a:ext cx="457200" cy="146304"/>
          </a:xfrm>
          <a:prstGeom prst="rect">
            <a:avLst/>
          </a:prstGeom>
          <a:noFill/>
          <a:ln/>
        </p:spPr>
        <p:txBody>
          <a:bodyPr wrap="square" lIns="0" tIns="0" rIns="0" bIns="0" rtlCol="0" anchor="ctr"/>
          <a:lstStyle/>
          <a:p>
            <a:pPr algn="r" indent="0" marL="0">
              <a:buNone/>
            </a:pPr>
            <a:r>
              <a:rPr lang="en-US" sz="680" dirty="0">
                <a:solidFill>
                  <a:srgbClr val="9FB3C8"/>
                </a:solidFill>
              </a:rPr>
              <a:t>3/8</a:t>
            </a:r>
            <a:endParaRPr lang="en-US" sz="68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mnt/data/wide_dark_modern_tech_infographic_scene_of_an_ab_batch_2.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94360" y="438912"/>
            <a:ext cx="7955280" cy="475488"/>
          </a:xfrm>
          <a:prstGeom prst="rect">
            <a:avLst/>
          </a:prstGeom>
          <a:noFill/>
          <a:ln/>
        </p:spPr>
        <p:txBody>
          <a:bodyPr wrap="square" lIns="0" tIns="0" rIns="0" bIns="0" rtlCol="0" anchor="ctr">
            <a:normAutofit/>
          </a:bodyPr>
          <a:lstStyle/>
          <a:p>
            <a:pPr indent="0" marL="0">
              <a:buNone/>
            </a:pPr>
            <a:r>
              <a:rPr lang="en-US" sz="2600" b="1" dirty="0">
                <a:solidFill>
                  <a:srgbClr val="F7FAFC"/>
                </a:solidFill>
                <a:latin typeface="Aptos Display" pitchFamily="34" charset="0"/>
                <a:ea typeface="Aptos Display" pitchFamily="34" charset="-122"/>
                <a:cs typeface="Aptos Display" pitchFamily="34" charset="-120"/>
              </a:rPr>
              <a:t>Technical Workflow</a:t>
            </a:r>
            <a:endParaRPr lang="en-US" sz="2600" dirty="0"/>
          </a:p>
        </p:txBody>
      </p:sp>
      <p:sp>
        <p:nvSpPr>
          <p:cNvPr id="4" name="Text 1"/>
          <p:cNvSpPr/>
          <p:nvPr/>
        </p:nvSpPr>
        <p:spPr>
          <a:xfrm>
            <a:off x="594360" y="941832"/>
            <a:ext cx="7955280" cy="329184"/>
          </a:xfrm>
          <a:prstGeom prst="rect">
            <a:avLst/>
          </a:prstGeom>
          <a:noFill/>
          <a:ln/>
        </p:spPr>
        <p:txBody>
          <a:bodyPr wrap="square" lIns="0" tIns="0" rIns="0" bIns="0" rtlCol="0" anchor="ctr">
            <a:normAutofit/>
          </a:bodyPr>
          <a:lstStyle/>
          <a:p>
            <a:pPr indent="0" marL="0">
              <a:buNone/>
            </a:pPr>
            <a:r>
              <a:rPr lang="en-US" sz="1150" dirty="0">
                <a:solidFill>
                  <a:srgbClr val="35D0E6"/>
                </a:solidFill>
                <a:latin typeface="Aptos" pitchFamily="34" charset="0"/>
                <a:ea typeface="Aptos" pitchFamily="34" charset="-122"/>
                <a:cs typeface="Aptos" pitchFamily="34" charset="-120"/>
              </a:rPr>
              <a:t>SAMSum preparation, leakage control, tokenization, training, and evaluation</a:t>
            </a:r>
            <a:endParaRPr lang="en-US" sz="1150" dirty="0"/>
          </a:p>
        </p:txBody>
      </p:sp>
      <p:sp>
        <p:nvSpPr>
          <p:cNvPr id="5" name="Shape 2"/>
          <p:cNvSpPr/>
          <p:nvPr/>
        </p:nvSpPr>
        <p:spPr>
          <a:xfrm>
            <a:off x="658368" y="1600200"/>
            <a:ext cx="1965960" cy="804672"/>
          </a:xfrm>
          <a:prstGeom prst="roundRect">
            <a:avLst>
              <a:gd name="adj" fmla="val 9091"/>
            </a:avLst>
          </a:prstGeom>
          <a:solidFill>
            <a:srgbClr val="09263A">
              <a:alpha val="95000"/>
            </a:srgbClr>
          </a:solidFill>
          <a:ln w="13970">
            <a:solidFill>
              <a:srgbClr val="35D0E6">
                <a:alpha val="80000"/>
              </a:srgbClr>
            </a:solidFill>
            <a:prstDash val="solid"/>
          </a:ln>
        </p:spPr>
      </p:sp>
      <p:sp>
        <p:nvSpPr>
          <p:cNvPr id="6" name="Text 3"/>
          <p:cNvSpPr/>
          <p:nvPr/>
        </p:nvSpPr>
        <p:spPr>
          <a:xfrm>
            <a:off x="786384" y="1719072"/>
            <a:ext cx="1709928" cy="219456"/>
          </a:xfrm>
          <a:prstGeom prst="rect">
            <a:avLst/>
          </a:prstGeom>
          <a:noFill/>
          <a:ln/>
        </p:spPr>
        <p:txBody>
          <a:bodyPr wrap="square" lIns="0" tIns="0" rIns="0" bIns="0" rtlCol="0" anchor="ctr">
            <a:normAutofit/>
          </a:bodyPr>
          <a:lstStyle/>
          <a:p>
            <a:pPr indent="0" marL="0">
              <a:buNone/>
            </a:pPr>
            <a:r>
              <a:rPr lang="en-US" sz="920" b="1" dirty="0">
                <a:solidFill>
                  <a:srgbClr val="35D0E6"/>
                </a:solidFill>
              </a:rPr>
              <a:t>1. Load SAMSum</a:t>
            </a:r>
            <a:endParaRPr lang="en-US" sz="920" dirty="0"/>
          </a:p>
        </p:txBody>
      </p:sp>
      <p:sp>
        <p:nvSpPr>
          <p:cNvPr id="7" name="Text 4"/>
          <p:cNvSpPr/>
          <p:nvPr/>
        </p:nvSpPr>
        <p:spPr>
          <a:xfrm>
            <a:off x="786384" y="1993392"/>
            <a:ext cx="1709928" cy="237744"/>
          </a:xfrm>
          <a:prstGeom prst="rect">
            <a:avLst/>
          </a:prstGeom>
          <a:noFill/>
          <a:ln/>
        </p:spPr>
        <p:txBody>
          <a:bodyPr wrap="square" lIns="0" tIns="0" rIns="0" bIns="0" rtlCol="0" anchor="ctr">
            <a:normAutofit/>
          </a:bodyPr>
          <a:lstStyle/>
          <a:p>
            <a:pPr indent="0" marL="0">
              <a:buNone/>
            </a:pPr>
            <a:r>
              <a:rPr lang="en-US" sz="750" dirty="0">
                <a:solidFill>
                  <a:srgbClr val="D6E3F0"/>
                </a:solidFill>
              </a:rPr>
              <a:t>train / validation / test dialogue splits</a:t>
            </a:r>
            <a:endParaRPr lang="en-US" sz="750" dirty="0"/>
          </a:p>
        </p:txBody>
      </p:sp>
      <p:sp>
        <p:nvSpPr>
          <p:cNvPr id="8" name="Shape 5"/>
          <p:cNvSpPr/>
          <p:nvPr/>
        </p:nvSpPr>
        <p:spPr>
          <a:xfrm>
            <a:off x="2852928" y="1600200"/>
            <a:ext cx="1965960" cy="804672"/>
          </a:xfrm>
          <a:prstGeom prst="roundRect">
            <a:avLst>
              <a:gd name="adj" fmla="val 9091"/>
            </a:avLst>
          </a:prstGeom>
          <a:solidFill>
            <a:srgbClr val="09263A">
              <a:alpha val="95000"/>
            </a:srgbClr>
          </a:solidFill>
          <a:ln w="13970">
            <a:solidFill>
              <a:srgbClr val="FFB84D">
                <a:alpha val="80000"/>
              </a:srgbClr>
            </a:solidFill>
            <a:prstDash val="solid"/>
          </a:ln>
        </p:spPr>
      </p:sp>
      <p:sp>
        <p:nvSpPr>
          <p:cNvPr id="9" name="Text 6"/>
          <p:cNvSpPr/>
          <p:nvPr/>
        </p:nvSpPr>
        <p:spPr>
          <a:xfrm>
            <a:off x="2980944" y="1719072"/>
            <a:ext cx="1709928" cy="219456"/>
          </a:xfrm>
          <a:prstGeom prst="rect">
            <a:avLst/>
          </a:prstGeom>
          <a:noFill/>
          <a:ln/>
        </p:spPr>
        <p:txBody>
          <a:bodyPr wrap="square" lIns="0" tIns="0" rIns="0" bIns="0" rtlCol="0" anchor="ctr">
            <a:normAutofit/>
          </a:bodyPr>
          <a:lstStyle/>
          <a:p>
            <a:pPr indent="0" marL="0">
              <a:buNone/>
            </a:pPr>
            <a:r>
              <a:rPr lang="en-US" sz="920" b="1" dirty="0">
                <a:solidFill>
                  <a:srgbClr val="FFB84D"/>
                </a:solidFill>
              </a:rPr>
              <a:t>2. Clean &amp; check</a:t>
            </a:r>
            <a:endParaRPr lang="en-US" sz="920" dirty="0"/>
          </a:p>
        </p:txBody>
      </p:sp>
      <p:sp>
        <p:nvSpPr>
          <p:cNvPr id="10" name="Text 7"/>
          <p:cNvSpPr/>
          <p:nvPr/>
        </p:nvSpPr>
        <p:spPr>
          <a:xfrm>
            <a:off x="2980944" y="1993392"/>
            <a:ext cx="1709928" cy="237744"/>
          </a:xfrm>
          <a:prstGeom prst="rect">
            <a:avLst/>
          </a:prstGeom>
          <a:noFill/>
          <a:ln/>
        </p:spPr>
        <p:txBody>
          <a:bodyPr wrap="square" lIns="0" tIns="0" rIns="0" bIns="0" rtlCol="0" anchor="ctr">
            <a:normAutofit/>
          </a:bodyPr>
          <a:lstStyle/>
          <a:p>
            <a:pPr indent="0" marL="0">
              <a:buNone/>
            </a:pPr>
            <a:r>
              <a:rPr lang="en-US" sz="750" dirty="0">
                <a:solidFill>
                  <a:srgbClr val="D6E3F0"/>
                </a:solidFill>
              </a:rPr>
              <a:t>duplicates + split-leakage prevention</a:t>
            </a:r>
            <a:endParaRPr lang="en-US" sz="750" dirty="0"/>
          </a:p>
        </p:txBody>
      </p:sp>
      <p:sp>
        <p:nvSpPr>
          <p:cNvPr id="11" name="Shape 8"/>
          <p:cNvSpPr/>
          <p:nvPr/>
        </p:nvSpPr>
        <p:spPr>
          <a:xfrm>
            <a:off x="5047488" y="1600200"/>
            <a:ext cx="1965960" cy="804672"/>
          </a:xfrm>
          <a:prstGeom prst="roundRect">
            <a:avLst>
              <a:gd name="adj" fmla="val 9091"/>
            </a:avLst>
          </a:prstGeom>
          <a:solidFill>
            <a:srgbClr val="09263A">
              <a:alpha val="95000"/>
            </a:srgbClr>
          </a:solidFill>
          <a:ln w="13970">
            <a:solidFill>
              <a:srgbClr val="66E38E">
                <a:alpha val="80000"/>
              </a:srgbClr>
            </a:solidFill>
            <a:prstDash val="solid"/>
          </a:ln>
        </p:spPr>
      </p:sp>
      <p:sp>
        <p:nvSpPr>
          <p:cNvPr id="12" name="Text 9"/>
          <p:cNvSpPr/>
          <p:nvPr/>
        </p:nvSpPr>
        <p:spPr>
          <a:xfrm>
            <a:off x="5175504" y="1719072"/>
            <a:ext cx="1709928" cy="219456"/>
          </a:xfrm>
          <a:prstGeom prst="rect">
            <a:avLst/>
          </a:prstGeom>
          <a:noFill/>
          <a:ln/>
        </p:spPr>
        <p:txBody>
          <a:bodyPr wrap="square" lIns="0" tIns="0" rIns="0" bIns="0" rtlCol="0" anchor="ctr">
            <a:normAutofit/>
          </a:bodyPr>
          <a:lstStyle/>
          <a:p>
            <a:pPr indent="0" marL="0">
              <a:buNone/>
            </a:pPr>
            <a:r>
              <a:rPr lang="en-US" sz="920" b="1" dirty="0">
                <a:solidFill>
                  <a:srgbClr val="66E38E"/>
                </a:solidFill>
              </a:rPr>
              <a:t>3. Tokenize</a:t>
            </a:r>
            <a:endParaRPr lang="en-US" sz="920" dirty="0"/>
          </a:p>
        </p:txBody>
      </p:sp>
      <p:sp>
        <p:nvSpPr>
          <p:cNvPr id="13" name="Text 10"/>
          <p:cNvSpPr/>
          <p:nvPr/>
        </p:nvSpPr>
        <p:spPr>
          <a:xfrm>
            <a:off x="5175504" y="1993392"/>
            <a:ext cx="1709928" cy="237744"/>
          </a:xfrm>
          <a:prstGeom prst="rect">
            <a:avLst/>
          </a:prstGeom>
          <a:noFill/>
          <a:ln/>
        </p:spPr>
        <p:txBody>
          <a:bodyPr wrap="square" lIns="0" tIns="0" rIns="0" bIns="0" rtlCol="0" anchor="ctr">
            <a:normAutofit/>
          </a:bodyPr>
          <a:lstStyle/>
          <a:p>
            <a:pPr indent="0" marL="0">
              <a:buNone/>
            </a:pPr>
            <a:r>
              <a:rPr lang="en-US" sz="750" dirty="0">
                <a:solidFill>
                  <a:srgbClr val="D6E3F0"/>
                </a:solidFill>
              </a:rPr>
              <a:t>384 input tokens, 64 summary tokens</a:t>
            </a:r>
            <a:endParaRPr lang="en-US" sz="750" dirty="0"/>
          </a:p>
        </p:txBody>
      </p:sp>
      <p:sp>
        <p:nvSpPr>
          <p:cNvPr id="14" name="Shape 11"/>
          <p:cNvSpPr/>
          <p:nvPr/>
        </p:nvSpPr>
        <p:spPr>
          <a:xfrm>
            <a:off x="7242048" y="1600200"/>
            <a:ext cx="1965960" cy="804672"/>
          </a:xfrm>
          <a:prstGeom prst="roundRect">
            <a:avLst>
              <a:gd name="adj" fmla="val 9091"/>
            </a:avLst>
          </a:prstGeom>
          <a:solidFill>
            <a:srgbClr val="09263A">
              <a:alpha val="95000"/>
            </a:srgbClr>
          </a:solidFill>
          <a:ln w="13970">
            <a:solidFill>
              <a:srgbClr val="35D0E6">
                <a:alpha val="80000"/>
              </a:srgbClr>
            </a:solidFill>
            <a:prstDash val="solid"/>
          </a:ln>
        </p:spPr>
      </p:sp>
      <p:sp>
        <p:nvSpPr>
          <p:cNvPr id="15" name="Text 12"/>
          <p:cNvSpPr/>
          <p:nvPr/>
        </p:nvSpPr>
        <p:spPr>
          <a:xfrm>
            <a:off x="7370064" y="1719072"/>
            <a:ext cx="1709928" cy="219456"/>
          </a:xfrm>
          <a:prstGeom prst="rect">
            <a:avLst/>
          </a:prstGeom>
          <a:noFill/>
          <a:ln/>
        </p:spPr>
        <p:txBody>
          <a:bodyPr wrap="square" lIns="0" tIns="0" rIns="0" bIns="0" rtlCol="0" anchor="ctr">
            <a:normAutofit/>
          </a:bodyPr>
          <a:lstStyle/>
          <a:p>
            <a:pPr indent="0" marL="0">
              <a:buNone/>
            </a:pPr>
            <a:r>
              <a:rPr lang="en-US" sz="920" b="1" dirty="0">
                <a:solidFill>
                  <a:srgbClr val="35D0E6"/>
                </a:solidFill>
              </a:rPr>
              <a:t>4. Fine-tune</a:t>
            </a:r>
            <a:endParaRPr lang="en-US" sz="920" dirty="0"/>
          </a:p>
        </p:txBody>
      </p:sp>
      <p:sp>
        <p:nvSpPr>
          <p:cNvPr id="16" name="Text 13"/>
          <p:cNvSpPr/>
          <p:nvPr/>
        </p:nvSpPr>
        <p:spPr>
          <a:xfrm>
            <a:off x="7370064" y="1993392"/>
            <a:ext cx="1709928" cy="237744"/>
          </a:xfrm>
          <a:prstGeom prst="rect">
            <a:avLst/>
          </a:prstGeom>
          <a:noFill/>
          <a:ln/>
        </p:spPr>
        <p:txBody>
          <a:bodyPr wrap="square" lIns="0" tIns="0" rIns="0" bIns="0" rtlCol="0" anchor="ctr">
            <a:normAutofit/>
          </a:bodyPr>
          <a:lstStyle/>
          <a:p>
            <a:pPr indent="0" marL="0">
              <a:buNone/>
            </a:pPr>
            <a:r>
              <a:rPr lang="en-US" sz="750" dirty="0">
                <a:solidFill>
                  <a:srgbClr val="D6E3F0"/>
                </a:solidFill>
              </a:rPr>
              <a:t>warm-start BERT encoder-decoder on CPU</a:t>
            </a:r>
            <a:endParaRPr lang="en-US" sz="750" dirty="0"/>
          </a:p>
        </p:txBody>
      </p:sp>
      <p:sp>
        <p:nvSpPr>
          <p:cNvPr id="17" name="Shape 14"/>
          <p:cNvSpPr/>
          <p:nvPr/>
        </p:nvSpPr>
        <p:spPr>
          <a:xfrm>
            <a:off x="9436608" y="1600200"/>
            <a:ext cx="1965960" cy="804672"/>
          </a:xfrm>
          <a:prstGeom prst="roundRect">
            <a:avLst>
              <a:gd name="adj" fmla="val 9091"/>
            </a:avLst>
          </a:prstGeom>
          <a:solidFill>
            <a:srgbClr val="09263A">
              <a:alpha val="95000"/>
            </a:srgbClr>
          </a:solidFill>
          <a:ln w="13970">
            <a:solidFill>
              <a:srgbClr val="FFB84D">
                <a:alpha val="80000"/>
              </a:srgbClr>
            </a:solidFill>
            <a:prstDash val="solid"/>
          </a:ln>
        </p:spPr>
      </p:sp>
      <p:sp>
        <p:nvSpPr>
          <p:cNvPr id="18" name="Text 15"/>
          <p:cNvSpPr/>
          <p:nvPr/>
        </p:nvSpPr>
        <p:spPr>
          <a:xfrm>
            <a:off x="9564624" y="1719072"/>
            <a:ext cx="1709928" cy="219456"/>
          </a:xfrm>
          <a:prstGeom prst="rect">
            <a:avLst/>
          </a:prstGeom>
          <a:noFill/>
          <a:ln/>
        </p:spPr>
        <p:txBody>
          <a:bodyPr wrap="square" lIns="0" tIns="0" rIns="0" bIns="0" rtlCol="0" anchor="ctr">
            <a:normAutofit/>
          </a:bodyPr>
          <a:lstStyle/>
          <a:p>
            <a:pPr indent="0" marL="0">
              <a:buNone/>
            </a:pPr>
            <a:r>
              <a:rPr lang="en-US" sz="920" b="1" dirty="0">
                <a:solidFill>
                  <a:srgbClr val="FFB84D"/>
                </a:solidFill>
              </a:rPr>
              <a:t>5. Evaluate</a:t>
            </a:r>
            <a:endParaRPr lang="en-US" sz="920" dirty="0"/>
          </a:p>
        </p:txBody>
      </p:sp>
      <p:sp>
        <p:nvSpPr>
          <p:cNvPr id="19" name="Text 16"/>
          <p:cNvSpPr/>
          <p:nvPr/>
        </p:nvSpPr>
        <p:spPr>
          <a:xfrm>
            <a:off x="9564624" y="1993392"/>
            <a:ext cx="1709928" cy="237744"/>
          </a:xfrm>
          <a:prstGeom prst="rect">
            <a:avLst/>
          </a:prstGeom>
          <a:noFill/>
          <a:ln/>
        </p:spPr>
        <p:txBody>
          <a:bodyPr wrap="square" lIns="0" tIns="0" rIns="0" bIns="0" rtlCol="0" anchor="ctr">
            <a:normAutofit/>
          </a:bodyPr>
          <a:lstStyle/>
          <a:p>
            <a:pPr indent="0" marL="0">
              <a:buNone/>
            </a:pPr>
            <a:r>
              <a:rPr lang="en-US" sz="750" dirty="0">
                <a:solidFill>
                  <a:srgbClr val="D6E3F0"/>
                </a:solidFill>
              </a:rPr>
              <a:t>validation tuning + held-out test ROUGE</a:t>
            </a:r>
            <a:endParaRPr lang="en-US" sz="750" dirty="0"/>
          </a:p>
        </p:txBody>
      </p:sp>
      <p:sp>
        <p:nvSpPr>
          <p:cNvPr id="20" name="Text 17"/>
          <p:cNvSpPr/>
          <p:nvPr/>
        </p:nvSpPr>
        <p:spPr>
          <a:xfrm>
            <a:off x="658368" y="3218688"/>
            <a:ext cx="2194560" cy="256032"/>
          </a:xfrm>
          <a:prstGeom prst="rect">
            <a:avLst/>
          </a:prstGeom>
          <a:noFill/>
          <a:ln/>
        </p:spPr>
        <p:txBody>
          <a:bodyPr wrap="square" lIns="0" tIns="0" rIns="0" bIns="0" rtlCol="0" anchor="ctr"/>
          <a:lstStyle/>
          <a:p>
            <a:pPr indent="0" marL="0">
              <a:buNone/>
            </a:pPr>
            <a:r>
              <a:rPr lang="en-US" sz="1300" b="1" dirty="0">
                <a:solidFill>
                  <a:srgbClr val="F7FAFC"/>
                </a:solidFill>
              </a:rPr>
              <a:t>Design choices</a:t>
            </a:r>
            <a:endParaRPr lang="en-US" sz="1300" dirty="0"/>
          </a:p>
        </p:txBody>
      </p:sp>
      <p:sp>
        <p:nvSpPr>
          <p:cNvPr id="21" name="Shape 18"/>
          <p:cNvSpPr/>
          <p:nvPr/>
        </p:nvSpPr>
        <p:spPr>
          <a:xfrm>
            <a:off x="658368" y="3694176"/>
            <a:ext cx="109728" cy="109728"/>
          </a:xfrm>
          <a:prstGeom prst="ellipse">
            <a:avLst/>
          </a:prstGeom>
          <a:solidFill>
            <a:srgbClr val="35D0E6"/>
          </a:solidFill>
          <a:ln w="12700">
            <a:solidFill>
              <a:srgbClr val="35D0E6">
                <a:alpha val="0"/>
              </a:srgbClr>
            </a:solidFill>
            <a:prstDash val="solid"/>
          </a:ln>
        </p:spPr>
      </p:sp>
      <p:sp>
        <p:nvSpPr>
          <p:cNvPr id="22" name="Text 19"/>
          <p:cNvSpPr/>
          <p:nvPr/>
        </p:nvSpPr>
        <p:spPr>
          <a:xfrm>
            <a:off x="859536" y="3657600"/>
            <a:ext cx="5303520" cy="384048"/>
          </a:xfrm>
          <a:prstGeom prst="rect">
            <a:avLst/>
          </a:prstGeom>
          <a:noFill/>
          <a:ln/>
        </p:spPr>
        <p:txBody>
          <a:bodyPr wrap="square" lIns="0" tIns="0" rIns="0" bIns="0" rtlCol="0" anchor="ctr">
            <a:normAutofit/>
          </a:bodyPr>
          <a:lstStyle/>
          <a:p>
            <a:pPr indent="0" marL="0">
              <a:buNone/>
            </a:pPr>
            <a:r>
              <a:rPr lang="en-US" sz="1100" dirty="0">
                <a:solidFill>
                  <a:srgbClr val="D6E3F0"/>
                </a:solidFill>
              </a:rPr>
              <a:t>Leakage checks preserve credibility of final test results.</a:t>
            </a:r>
            <a:endParaRPr lang="en-US" sz="1100" dirty="0"/>
          </a:p>
        </p:txBody>
      </p:sp>
      <p:sp>
        <p:nvSpPr>
          <p:cNvPr id="23" name="Shape 20"/>
          <p:cNvSpPr/>
          <p:nvPr/>
        </p:nvSpPr>
        <p:spPr>
          <a:xfrm>
            <a:off x="658368" y="4187952"/>
            <a:ext cx="109728" cy="109728"/>
          </a:xfrm>
          <a:prstGeom prst="ellipse">
            <a:avLst/>
          </a:prstGeom>
          <a:solidFill>
            <a:srgbClr val="66E38E"/>
          </a:solidFill>
          <a:ln w="12700">
            <a:solidFill>
              <a:srgbClr val="66E38E">
                <a:alpha val="0"/>
              </a:srgbClr>
            </a:solidFill>
            <a:prstDash val="solid"/>
          </a:ln>
        </p:spPr>
      </p:sp>
      <p:sp>
        <p:nvSpPr>
          <p:cNvPr id="24" name="Text 21"/>
          <p:cNvSpPr/>
          <p:nvPr/>
        </p:nvSpPr>
        <p:spPr>
          <a:xfrm>
            <a:off x="859536" y="4151376"/>
            <a:ext cx="5303520" cy="384048"/>
          </a:xfrm>
          <a:prstGeom prst="rect">
            <a:avLst/>
          </a:prstGeom>
          <a:noFill/>
          <a:ln/>
        </p:spPr>
        <p:txBody>
          <a:bodyPr wrap="square" lIns="0" tIns="0" rIns="0" bIns="0" rtlCol="0" anchor="ctr">
            <a:normAutofit/>
          </a:bodyPr>
          <a:lstStyle/>
          <a:p>
            <a:pPr indent="0" marL="0">
              <a:buNone/>
            </a:pPr>
            <a:r>
              <a:rPr lang="en-US" sz="1100" dirty="0">
                <a:solidFill>
                  <a:srgbClr val="D6E3F0"/>
                </a:solidFill>
              </a:rPr>
              <a:t>Token-length limits cover most examples while reducing CPU cost.</a:t>
            </a:r>
            <a:endParaRPr lang="en-US" sz="1100" dirty="0"/>
          </a:p>
        </p:txBody>
      </p:sp>
      <p:sp>
        <p:nvSpPr>
          <p:cNvPr id="25" name="Shape 22"/>
          <p:cNvSpPr/>
          <p:nvPr/>
        </p:nvSpPr>
        <p:spPr>
          <a:xfrm>
            <a:off x="658368" y="4681728"/>
            <a:ext cx="109728" cy="109728"/>
          </a:xfrm>
          <a:prstGeom prst="ellipse">
            <a:avLst/>
          </a:prstGeom>
          <a:solidFill>
            <a:srgbClr val="FFB84D"/>
          </a:solidFill>
          <a:ln w="12700">
            <a:solidFill>
              <a:srgbClr val="FFB84D">
                <a:alpha val="0"/>
              </a:srgbClr>
            </a:solidFill>
            <a:prstDash val="solid"/>
          </a:ln>
        </p:spPr>
      </p:sp>
      <p:sp>
        <p:nvSpPr>
          <p:cNvPr id="26" name="Text 23"/>
          <p:cNvSpPr/>
          <p:nvPr/>
        </p:nvSpPr>
        <p:spPr>
          <a:xfrm>
            <a:off x="859536" y="4645152"/>
            <a:ext cx="5303520" cy="384048"/>
          </a:xfrm>
          <a:prstGeom prst="rect">
            <a:avLst/>
          </a:prstGeom>
          <a:noFill/>
          <a:ln/>
        </p:spPr>
        <p:txBody>
          <a:bodyPr wrap="square" lIns="0" tIns="0" rIns="0" bIns="0" rtlCol="0" anchor="ctr">
            <a:normAutofit/>
          </a:bodyPr>
          <a:lstStyle/>
          <a:p>
            <a:pPr indent="0" marL="0">
              <a:buNone/>
            </a:pPr>
            <a:r>
              <a:rPr lang="en-US" sz="1100" dirty="0">
                <a:solidFill>
                  <a:srgbClr val="D6E3F0"/>
                </a:solidFill>
              </a:rPr>
              <a:t>Generation settings are tuned only on validation data, not the test set.</a:t>
            </a:r>
            <a:endParaRPr lang="en-US" sz="1100" dirty="0"/>
          </a:p>
        </p:txBody>
      </p:sp>
      <p:sp>
        <p:nvSpPr>
          <p:cNvPr id="27" name="Text 24"/>
          <p:cNvSpPr/>
          <p:nvPr/>
        </p:nvSpPr>
        <p:spPr>
          <a:xfrm>
            <a:off x="7178040" y="3218688"/>
            <a:ext cx="2194560" cy="256032"/>
          </a:xfrm>
          <a:prstGeom prst="rect">
            <a:avLst/>
          </a:prstGeom>
          <a:noFill/>
          <a:ln/>
        </p:spPr>
        <p:txBody>
          <a:bodyPr wrap="square" lIns="0" tIns="0" rIns="0" bIns="0" rtlCol="0" anchor="ctr"/>
          <a:lstStyle/>
          <a:p>
            <a:pPr indent="0" marL="0">
              <a:buNone/>
            </a:pPr>
            <a:r>
              <a:rPr lang="en-US" sz="1300" b="1" dirty="0">
                <a:solidFill>
                  <a:srgbClr val="F7FAFC"/>
                </a:solidFill>
              </a:rPr>
              <a:t>Why it matters</a:t>
            </a:r>
            <a:endParaRPr lang="en-US" sz="1300" dirty="0"/>
          </a:p>
        </p:txBody>
      </p:sp>
      <p:sp>
        <p:nvSpPr>
          <p:cNvPr id="28" name="Text 25"/>
          <p:cNvSpPr/>
          <p:nvPr/>
        </p:nvSpPr>
        <p:spPr>
          <a:xfrm>
            <a:off x="7178040" y="3657600"/>
            <a:ext cx="3840480" cy="1097280"/>
          </a:xfrm>
          <a:prstGeom prst="rect">
            <a:avLst/>
          </a:prstGeom>
          <a:noFill/>
          <a:ln/>
        </p:spPr>
        <p:txBody>
          <a:bodyPr wrap="square" lIns="0" tIns="0" rIns="0" bIns="0" rtlCol="0" anchor="ctr">
            <a:normAutofit/>
          </a:bodyPr>
          <a:lstStyle/>
          <a:p>
            <a:pPr indent="0" marL="0">
              <a:buNone/>
            </a:pPr>
            <a:r>
              <a:rPr lang="en-US" sz="1500" b="1" dirty="0">
                <a:solidFill>
                  <a:srgbClr val="F7FAFC"/>
                </a:solidFill>
              </a:rPr>
              <a:t>The workflow connects a realistic product problem to a controlled machine-learning experiment, while avoiding accidental test-set tuning.</a:t>
            </a:r>
            <a:endParaRPr lang="en-US" sz="1500" dirty="0"/>
          </a:p>
        </p:txBody>
      </p:sp>
      <p:sp>
        <p:nvSpPr>
          <p:cNvPr id="29" name="Shape 26"/>
          <p:cNvSpPr/>
          <p:nvPr/>
        </p:nvSpPr>
        <p:spPr>
          <a:xfrm>
            <a:off x="594360" y="6473952"/>
            <a:ext cx="10972800" cy="0"/>
          </a:xfrm>
          <a:prstGeom prst="line">
            <a:avLst/>
          </a:prstGeom>
          <a:noFill/>
          <a:ln w="7620">
            <a:solidFill>
              <a:srgbClr val="33506A">
                <a:alpha val="60000"/>
              </a:srgbClr>
            </a:solidFill>
            <a:prstDash val="solid"/>
          </a:ln>
        </p:spPr>
      </p:sp>
      <p:sp>
        <p:nvSpPr>
          <p:cNvPr id="30" name="Text 27"/>
          <p:cNvSpPr/>
          <p:nvPr/>
        </p:nvSpPr>
        <p:spPr>
          <a:xfrm>
            <a:off x="594360" y="6565392"/>
            <a:ext cx="3840480" cy="146304"/>
          </a:xfrm>
          <a:prstGeom prst="rect">
            <a:avLst/>
          </a:prstGeom>
          <a:noFill/>
          <a:ln/>
        </p:spPr>
        <p:txBody>
          <a:bodyPr wrap="square" lIns="0" tIns="0" rIns="0" bIns="0" rtlCol="0" anchor="ctr"/>
          <a:lstStyle/>
          <a:p>
            <a:pPr indent="0" marL="0">
              <a:buNone/>
            </a:pPr>
            <a:r>
              <a:rPr lang="en-US" sz="680" dirty="0">
                <a:solidFill>
                  <a:srgbClr val="9FB3C8"/>
                </a:solidFill>
              </a:rPr>
              <a:t>Gridiron Brief  |  Project 3 Showcase</a:t>
            </a:r>
            <a:endParaRPr lang="en-US" sz="680" dirty="0"/>
          </a:p>
        </p:txBody>
      </p:sp>
      <p:sp>
        <p:nvSpPr>
          <p:cNvPr id="31" name="Text 28"/>
          <p:cNvSpPr/>
          <p:nvPr/>
        </p:nvSpPr>
        <p:spPr>
          <a:xfrm>
            <a:off x="11119104" y="6565392"/>
            <a:ext cx="457200" cy="146304"/>
          </a:xfrm>
          <a:prstGeom prst="rect">
            <a:avLst/>
          </a:prstGeom>
          <a:noFill/>
          <a:ln/>
        </p:spPr>
        <p:txBody>
          <a:bodyPr wrap="square" lIns="0" tIns="0" rIns="0" bIns="0" rtlCol="0" anchor="ctr"/>
          <a:lstStyle/>
          <a:p>
            <a:pPr algn="r" indent="0" marL="0">
              <a:buNone/>
            </a:pPr>
            <a:r>
              <a:rPr lang="en-US" sz="680" dirty="0">
                <a:solidFill>
                  <a:srgbClr val="9FB3C8"/>
                </a:solidFill>
              </a:rPr>
              <a:t>4/8</a:t>
            </a:r>
            <a:endParaRPr lang="en-US" sz="68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3101D"/>
        </a:solidFill>
      </p:bgPr>
    </p:bg>
    <p:spTree>
      <p:nvGrpSpPr>
        <p:cNvPr id="1" name=""/>
        <p:cNvGrpSpPr/>
        <p:nvPr/>
      </p:nvGrpSpPr>
      <p:grpSpPr>
        <a:xfrm>
          <a:off x="0" y="0"/>
          <a:ext cx="0" cy="0"/>
          <a:chOff x="0" y="0"/>
          <a:chExt cx="0" cy="0"/>
        </a:xfrm>
      </p:grpSpPr>
      <p:sp>
        <p:nvSpPr>
          <p:cNvPr id="2" name="Text 0"/>
          <p:cNvSpPr/>
          <p:nvPr/>
        </p:nvSpPr>
        <p:spPr>
          <a:xfrm>
            <a:off x="594360" y="438912"/>
            <a:ext cx="7406640" cy="475488"/>
          </a:xfrm>
          <a:prstGeom prst="rect">
            <a:avLst/>
          </a:prstGeom>
          <a:noFill/>
          <a:ln/>
        </p:spPr>
        <p:txBody>
          <a:bodyPr wrap="square" lIns="0" tIns="0" rIns="0" bIns="0" rtlCol="0" anchor="ctr">
            <a:normAutofit/>
          </a:bodyPr>
          <a:lstStyle/>
          <a:p>
            <a:pPr indent="0" marL="0">
              <a:buNone/>
            </a:pPr>
            <a:r>
              <a:rPr lang="en-US" sz="2600" b="1" dirty="0">
                <a:solidFill>
                  <a:srgbClr val="F7FAFC"/>
                </a:solidFill>
                <a:latin typeface="Aptos Display" pitchFamily="34" charset="0"/>
                <a:ea typeface="Aptos Display" pitchFamily="34" charset="-122"/>
                <a:cs typeface="Aptos Display" pitchFamily="34" charset="-120"/>
              </a:rPr>
              <a:t>Architecture &amp; Training</a:t>
            </a:r>
            <a:endParaRPr lang="en-US" sz="2600" dirty="0"/>
          </a:p>
        </p:txBody>
      </p:sp>
      <p:sp>
        <p:nvSpPr>
          <p:cNvPr id="3" name="Text 1"/>
          <p:cNvSpPr/>
          <p:nvPr/>
        </p:nvSpPr>
        <p:spPr>
          <a:xfrm>
            <a:off x="594360" y="941832"/>
            <a:ext cx="7406640" cy="329184"/>
          </a:xfrm>
          <a:prstGeom prst="rect">
            <a:avLst/>
          </a:prstGeom>
          <a:noFill/>
          <a:ln/>
        </p:spPr>
        <p:txBody>
          <a:bodyPr wrap="square" lIns="0" tIns="0" rIns="0" bIns="0" rtlCol="0" anchor="ctr">
            <a:normAutofit/>
          </a:bodyPr>
          <a:lstStyle/>
          <a:p>
            <a:pPr indent="0" marL="0">
              <a:buNone/>
            </a:pPr>
            <a:r>
              <a:rPr lang="en-US" sz="1150" dirty="0">
                <a:solidFill>
                  <a:srgbClr val="35D0E6"/>
                </a:solidFill>
                <a:latin typeface="Aptos" pitchFamily="34" charset="0"/>
                <a:ea typeface="Aptos" pitchFamily="34" charset="-122"/>
                <a:cs typeface="Aptos" pitchFamily="34" charset="-120"/>
              </a:rPr>
              <a:t>BERT-to-BERT encoder-decoder with CPU-aware refinement</a:t>
            </a:r>
            <a:endParaRPr lang="en-US" sz="1150" dirty="0"/>
          </a:p>
        </p:txBody>
      </p:sp>
      <p:pic>
        <p:nvPicPr>
          <p:cNvPr id="4" name="Image 0" descr="/mnt/data/wide_dark_modern_tech_infographic_scene_of_an_ab_batch_2.png">    </p:cNvPr>
          <p:cNvPicPr>
            <a:picLocks noChangeAspect="1"/>
          </p:cNvPicPr>
          <p:nvPr/>
        </p:nvPicPr>
        <p:blipFill>
          <a:blip r:embed="rId1"/>
          <a:stretch>
            <a:fillRect/>
          </a:stretch>
        </p:blipFill>
        <p:spPr>
          <a:xfrm>
            <a:off x="6172200" y="1417320"/>
            <a:ext cx="5257800" cy="2953512"/>
          </a:xfrm>
          <a:prstGeom prst="rect">
            <a:avLst/>
          </a:prstGeom>
        </p:spPr>
      </p:pic>
      <p:sp>
        <p:nvSpPr>
          <p:cNvPr id="5" name="Text 2"/>
          <p:cNvSpPr/>
          <p:nvPr/>
        </p:nvSpPr>
        <p:spPr>
          <a:xfrm>
            <a:off x="685800" y="1691640"/>
            <a:ext cx="2011680" cy="530352"/>
          </a:xfrm>
          <a:prstGeom prst="rect">
            <a:avLst/>
          </a:prstGeom>
          <a:noFill/>
          <a:ln/>
        </p:spPr>
        <p:txBody>
          <a:bodyPr wrap="square" lIns="0" tIns="0" rIns="0" bIns="0" rtlCol="0" anchor="ctr">
            <a:normAutofit/>
          </a:bodyPr>
          <a:lstStyle/>
          <a:p>
            <a:pPr indent="0" marL="0">
              <a:buNone/>
            </a:pPr>
            <a:r>
              <a:rPr lang="en-US" sz="2500" b="1" dirty="0">
                <a:solidFill>
                  <a:srgbClr val="35D0E6"/>
                </a:solidFill>
              </a:rPr>
              <a:t>61.8M</a:t>
            </a:r>
            <a:endParaRPr lang="en-US" sz="2500" dirty="0"/>
          </a:p>
        </p:txBody>
      </p:sp>
      <p:sp>
        <p:nvSpPr>
          <p:cNvPr id="6" name="Text 3"/>
          <p:cNvSpPr/>
          <p:nvPr/>
        </p:nvSpPr>
        <p:spPr>
          <a:xfrm>
            <a:off x="685800" y="2258568"/>
            <a:ext cx="2148840" cy="393192"/>
          </a:xfrm>
          <a:prstGeom prst="rect">
            <a:avLst/>
          </a:prstGeom>
          <a:noFill/>
          <a:ln/>
        </p:spPr>
        <p:txBody>
          <a:bodyPr wrap="square" lIns="0" tIns="0" rIns="0" bIns="0" rtlCol="0" anchor="ctr">
            <a:normAutofit/>
          </a:bodyPr>
          <a:lstStyle/>
          <a:p>
            <a:pPr indent="0" marL="0">
              <a:buNone/>
            </a:pPr>
            <a:r>
              <a:rPr lang="en-US" sz="860" dirty="0">
                <a:solidFill>
                  <a:srgbClr val="D6E3F0"/>
                </a:solidFill>
              </a:rPr>
              <a:t>parameters in final warm-started checkpoint</a:t>
            </a:r>
            <a:endParaRPr lang="en-US" sz="860" dirty="0"/>
          </a:p>
        </p:txBody>
      </p:sp>
      <p:sp>
        <p:nvSpPr>
          <p:cNvPr id="7" name="Text 4"/>
          <p:cNvSpPr/>
          <p:nvPr/>
        </p:nvSpPr>
        <p:spPr>
          <a:xfrm>
            <a:off x="2907792" y="1691640"/>
            <a:ext cx="2011680" cy="530352"/>
          </a:xfrm>
          <a:prstGeom prst="rect">
            <a:avLst/>
          </a:prstGeom>
          <a:noFill/>
          <a:ln/>
        </p:spPr>
        <p:txBody>
          <a:bodyPr wrap="square" lIns="0" tIns="0" rIns="0" bIns="0" rtlCol="0" anchor="ctr">
            <a:normAutofit/>
          </a:bodyPr>
          <a:lstStyle/>
          <a:p>
            <a:pPr indent="0" marL="0">
              <a:buNone/>
            </a:pPr>
            <a:r>
              <a:rPr lang="en-US" sz="2500" b="1" dirty="0">
                <a:solidFill>
                  <a:srgbClr val="66E38E"/>
                </a:solidFill>
              </a:rPr>
              <a:t>3,000</a:t>
            </a:r>
            <a:endParaRPr lang="en-US" sz="2500" dirty="0"/>
          </a:p>
        </p:txBody>
      </p:sp>
      <p:sp>
        <p:nvSpPr>
          <p:cNvPr id="8" name="Text 5"/>
          <p:cNvSpPr/>
          <p:nvPr/>
        </p:nvSpPr>
        <p:spPr>
          <a:xfrm>
            <a:off x="2907792" y="2258568"/>
            <a:ext cx="2148840" cy="393192"/>
          </a:xfrm>
          <a:prstGeom prst="rect">
            <a:avLst/>
          </a:prstGeom>
          <a:noFill/>
          <a:ln/>
        </p:spPr>
        <p:txBody>
          <a:bodyPr wrap="square" lIns="0" tIns="0" rIns="0" bIns="0" rtlCol="0" anchor="ctr">
            <a:normAutofit/>
          </a:bodyPr>
          <a:lstStyle/>
          <a:p>
            <a:pPr indent="0" marL="0">
              <a:buNone/>
            </a:pPr>
            <a:r>
              <a:rPr lang="en-US" sz="860" dirty="0">
                <a:solidFill>
                  <a:srgbClr val="D6E3F0"/>
                </a:solidFill>
              </a:rPr>
              <a:t>training examples used for final fine-tuning</a:t>
            </a:r>
            <a:endParaRPr lang="en-US" sz="860" dirty="0"/>
          </a:p>
        </p:txBody>
      </p:sp>
      <p:sp>
        <p:nvSpPr>
          <p:cNvPr id="9" name="Text 6"/>
          <p:cNvSpPr/>
          <p:nvPr/>
        </p:nvSpPr>
        <p:spPr>
          <a:xfrm>
            <a:off x="685800" y="2971800"/>
            <a:ext cx="2011680" cy="530352"/>
          </a:xfrm>
          <a:prstGeom prst="rect">
            <a:avLst/>
          </a:prstGeom>
          <a:noFill/>
          <a:ln/>
        </p:spPr>
        <p:txBody>
          <a:bodyPr wrap="square" lIns="0" tIns="0" rIns="0" bIns="0" rtlCol="0" anchor="ctr">
            <a:normAutofit/>
          </a:bodyPr>
          <a:lstStyle/>
          <a:p>
            <a:pPr indent="0" marL="0">
              <a:buNone/>
            </a:pPr>
            <a:r>
              <a:rPr lang="en-US" sz="2500" b="1" dirty="0">
                <a:solidFill>
                  <a:srgbClr val="FFB84D"/>
                </a:solidFill>
              </a:rPr>
              <a:t>2</a:t>
            </a:r>
            <a:endParaRPr lang="en-US" sz="2500" dirty="0"/>
          </a:p>
        </p:txBody>
      </p:sp>
      <p:sp>
        <p:nvSpPr>
          <p:cNvPr id="10" name="Text 7"/>
          <p:cNvSpPr/>
          <p:nvPr/>
        </p:nvSpPr>
        <p:spPr>
          <a:xfrm>
            <a:off x="685800" y="3538728"/>
            <a:ext cx="2148840" cy="393192"/>
          </a:xfrm>
          <a:prstGeom prst="rect">
            <a:avLst/>
          </a:prstGeom>
          <a:noFill/>
          <a:ln/>
        </p:spPr>
        <p:txBody>
          <a:bodyPr wrap="square" lIns="0" tIns="0" rIns="0" bIns="0" rtlCol="0" anchor="ctr">
            <a:normAutofit/>
          </a:bodyPr>
          <a:lstStyle/>
          <a:p>
            <a:pPr indent="0" marL="0">
              <a:buNone/>
            </a:pPr>
            <a:r>
              <a:rPr lang="en-US" sz="860" dirty="0">
                <a:solidFill>
                  <a:srgbClr val="D6E3F0"/>
                </a:solidFill>
              </a:rPr>
              <a:t>epochs completed on local CPU</a:t>
            </a:r>
            <a:endParaRPr lang="en-US" sz="860" dirty="0"/>
          </a:p>
        </p:txBody>
      </p:sp>
      <p:sp>
        <p:nvSpPr>
          <p:cNvPr id="11" name="Text 8"/>
          <p:cNvSpPr/>
          <p:nvPr/>
        </p:nvSpPr>
        <p:spPr>
          <a:xfrm>
            <a:off x="2907792" y="2971800"/>
            <a:ext cx="2011680" cy="530352"/>
          </a:xfrm>
          <a:prstGeom prst="rect">
            <a:avLst/>
          </a:prstGeom>
          <a:noFill/>
          <a:ln/>
        </p:spPr>
        <p:txBody>
          <a:bodyPr wrap="square" lIns="0" tIns="0" rIns="0" bIns="0" rtlCol="0" anchor="ctr">
            <a:normAutofit/>
          </a:bodyPr>
          <a:lstStyle/>
          <a:p>
            <a:pPr indent="0" marL="0">
              <a:buNone/>
            </a:pPr>
            <a:r>
              <a:rPr lang="en-US" sz="2500" b="1" dirty="0">
                <a:solidFill>
                  <a:srgbClr val="FF7B2F"/>
                </a:solidFill>
              </a:rPr>
              <a:t>300</a:t>
            </a:r>
            <a:endParaRPr lang="en-US" sz="2500" dirty="0"/>
          </a:p>
        </p:txBody>
      </p:sp>
      <p:sp>
        <p:nvSpPr>
          <p:cNvPr id="12" name="Text 9"/>
          <p:cNvSpPr/>
          <p:nvPr/>
        </p:nvSpPr>
        <p:spPr>
          <a:xfrm>
            <a:off x="2907792" y="3538728"/>
            <a:ext cx="2148840" cy="393192"/>
          </a:xfrm>
          <a:prstGeom prst="rect">
            <a:avLst/>
          </a:prstGeom>
          <a:noFill/>
          <a:ln/>
        </p:spPr>
        <p:txBody>
          <a:bodyPr wrap="square" lIns="0" tIns="0" rIns="0" bIns="0" rtlCol="0" anchor="ctr">
            <a:normAutofit/>
          </a:bodyPr>
          <a:lstStyle/>
          <a:p>
            <a:pPr indent="0" marL="0">
              <a:buNone/>
            </a:pPr>
            <a:r>
              <a:rPr lang="en-US" sz="860" dirty="0">
                <a:solidFill>
                  <a:srgbClr val="D6E3F0"/>
                </a:solidFill>
              </a:rPr>
              <a:t>held-out test examples for final ROUGE</a:t>
            </a:r>
            <a:endParaRPr lang="en-US" sz="860" dirty="0"/>
          </a:p>
        </p:txBody>
      </p:sp>
      <p:sp>
        <p:nvSpPr>
          <p:cNvPr id="13" name="Text 10"/>
          <p:cNvSpPr/>
          <p:nvPr/>
        </p:nvSpPr>
        <p:spPr>
          <a:xfrm>
            <a:off x="685800" y="4498848"/>
            <a:ext cx="4114800" cy="237744"/>
          </a:xfrm>
          <a:prstGeom prst="rect">
            <a:avLst/>
          </a:prstGeom>
          <a:noFill/>
          <a:ln/>
        </p:spPr>
        <p:txBody>
          <a:bodyPr wrap="square" lIns="0" tIns="0" rIns="0" bIns="0" rtlCol="0" anchor="ctr"/>
          <a:lstStyle/>
          <a:p>
            <a:pPr indent="0" marL="0">
              <a:buNone/>
            </a:pPr>
            <a:r>
              <a:rPr lang="en-US" sz="1200" b="1" dirty="0">
                <a:solidFill>
                  <a:srgbClr val="F7FAFC"/>
                </a:solidFill>
              </a:rPr>
              <a:t>Refinement based on peer feedback</a:t>
            </a:r>
            <a:endParaRPr lang="en-US" sz="1200" dirty="0"/>
          </a:p>
        </p:txBody>
      </p:sp>
      <p:sp>
        <p:nvSpPr>
          <p:cNvPr id="14" name="Shape 11"/>
          <p:cNvSpPr/>
          <p:nvPr/>
        </p:nvSpPr>
        <p:spPr>
          <a:xfrm>
            <a:off x="685800" y="4956048"/>
            <a:ext cx="109728" cy="109728"/>
          </a:xfrm>
          <a:prstGeom prst="ellipse">
            <a:avLst/>
          </a:prstGeom>
          <a:solidFill>
            <a:srgbClr val="35D0E6"/>
          </a:solidFill>
          <a:ln w="12700">
            <a:solidFill>
              <a:srgbClr val="35D0E6">
                <a:alpha val="0"/>
              </a:srgbClr>
            </a:solidFill>
            <a:prstDash val="solid"/>
          </a:ln>
        </p:spPr>
      </p:sp>
      <p:sp>
        <p:nvSpPr>
          <p:cNvPr id="15" name="Text 12"/>
          <p:cNvSpPr/>
          <p:nvPr/>
        </p:nvSpPr>
        <p:spPr>
          <a:xfrm>
            <a:off x="886968" y="4919472"/>
            <a:ext cx="4572000" cy="384048"/>
          </a:xfrm>
          <a:prstGeom prst="rect">
            <a:avLst/>
          </a:prstGeom>
          <a:noFill/>
          <a:ln/>
        </p:spPr>
        <p:txBody>
          <a:bodyPr wrap="square" lIns="0" tIns="0" rIns="0" bIns="0" rtlCol="0" anchor="ctr">
            <a:normAutofit/>
          </a:bodyPr>
          <a:lstStyle/>
          <a:p>
            <a:pPr indent="0" marL="0">
              <a:buNone/>
            </a:pPr>
            <a:r>
              <a:rPr lang="en-US" sz="1100" dirty="0">
                <a:solidFill>
                  <a:srgbClr val="D6E3F0"/>
                </a:solidFill>
              </a:rPr>
              <a:t>Kept the required BERT-based encoder-decoder architecture.</a:t>
            </a:r>
            <a:endParaRPr lang="en-US" sz="1100" dirty="0"/>
          </a:p>
        </p:txBody>
      </p:sp>
      <p:sp>
        <p:nvSpPr>
          <p:cNvPr id="16" name="Shape 13"/>
          <p:cNvSpPr/>
          <p:nvPr/>
        </p:nvSpPr>
        <p:spPr>
          <a:xfrm>
            <a:off x="685800" y="5413248"/>
            <a:ext cx="109728" cy="109728"/>
          </a:xfrm>
          <a:prstGeom prst="ellipse">
            <a:avLst/>
          </a:prstGeom>
          <a:solidFill>
            <a:srgbClr val="66E38E"/>
          </a:solidFill>
          <a:ln w="12700">
            <a:solidFill>
              <a:srgbClr val="66E38E">
                <a:alpha val="0"/>
              </a:srgbClr>
            </a:solidFill>
            <a:prstDash val="solid"/>
          </a:ln>
        </p:spPr>
      </p:sp>
      <p:sp>
        <p:nvSpPr>
          <p:cNvPr id="17" name="Text 14"/>
          <p:cNvSpPr/>
          <p:nvPr/>
        </p:nvSpPr>
        <p:spPr>
          <a:xfrm>
            <a:off x="886968" y="5376672"/>
            <a:ext cx="4937760" cy="384048"/>
          </a:xfrm>
          <a:prstGeom prst="rect">
            <a:avLst/>
          </a:prstGeom>
          <a:noFill/>
          <a:ln/>
        </p:spPr>
        <p:txBody>
          <a:bodyPr wrap="square" lIns="0" tIns="0" rIns="0" bIns="0" rtlCol="0" anchor="ctr">
            <a:normAutofit/>
          </a:bodyPr>
          <a:lstStyle/>
          <a:p>
            <a:pPr indent="0" marL="0">
              <a:buNone/>
            </a:pPr>
            <a:r>
              <a:rPr lang="en-US" sz="1100" dirty="0">
                <a:solidFill>
                  <a:srgbClr val="D6E3F0"/>
                </a:solidFill>
              </a:rPr>
              <a:t>Improved the starting point using a warm-started summarization checkpoint.</a:t>
            </a:r>
            <a:endParaRPr lang="en-US" sz="1100" dirty="0"/>
          </a:p>
        </p:txBody>
      </p:sp>
      <p:sp>
        <p:nvSpPr>
          <p:cNvPr id="18" name="Shape 15"/>
          <p:cNvSpPr/>
          <p:nvPr/>
        </p:nvSpPr>
        <p:spPr>
          <a:xfrm>
            <a:off x="685800" y="5870448"/>
            <a:ext cx="109728" cy="109728"/>
          </a:xfrm>
          <a:prstGeom prst="ellipse">
            <a:avLst/>
          </a:prstGeom>
          <a:solidFill>
            <a:srgbClr val="FFB84D"/>
          </a:solidFill>
          <a:ln w="12700">
            <a:solidFill>
              <a:srgbClr val="FFB84D">
                <a:alpha val="0"/>
              </a:srgbClr>
            </a:solidFill>
            <a:prstDash val="solid"/>
          </a:ln>
        </p:spPr>
      </p:sp>
      <p:sp>
        <p:nvSpPr>
          <p:cNvPr id="19" name="Text 16"/>
          <p:cNvSpPr/>
          <p:nvPr/>
        </p:nvSpPr>
        <p:spPr>
          <a:xfrm>
            <a:off x="886968" y="5833872"/>
            <a:ext cx="5120640" cy="384048"/>
          </a:xfrm>
          <a:prstGeom prst="rect">
            <a:avLst/>
          </a:prstGeom>
          <a:noFill/>
          <a:ln/>
        </p:spPr>
        <p:txBody>
          <a:bodyPr wrap="square" lIns="0" tIns="0" rIns="0" bIns="0" rtlCol="0" anchor="ctr">
            <a:normAutofit/>
          </a:bodyPr>
          <a:lstStyle/>
          <a:p>
            <a:pPr indent="0" marL="0">
              <a:buNone/>
            </a:pPr>
            <a:r>
              <a:rPr lang="en-US" sz="1100" dirty="0">
                <a:solidFill>
                  <a:srgbClr val="D6E3F0"/>
                </a:solidFill>
              </a:rPr>
              <a:t>Used checkpointing, validation loss, and beam-search tuning to refine output quality.</a:t>
            </a:r>
            <a:endParaRPr lang="en-US" sz="1100" dirty="0"/>
          </a:p>
        </p:txBody>
      </p:sp>
      <p:sp>
        <p:nvSpPr>
          <p:cNvPr id="20" name="Shape 17"/>
          <p:cNvSpPr/>
          <p:nvPr/>
        </p:nvSpPr>
        <p:spPr>
          <a:xfrm>
            <a:off x="594360" y="6473952"/>
            <a:ext cx="10972800" cy="0"/>
          </a:xfrm>
          <a:prstGeom prst="line">
            <a:avLst/>
          </a:prstGeom>
          <a:noFill/>
          <a:ln w="7620">
            <a:solidFill>
              <a:srgbClr val="33506A">
                <a:alpha val="60000"/>
              </a:srgbClr>
            </a:solidFill>
            <a:prstDash val="solid"/>
          </a:ln>
        </p:spPr>
      </p:sp>
      <p:sp>
        <p:nvSpPr>
          <p:cNvPr id="21" name="Text 18"/>
          <p:cNvSpPr/>
          <p:nvPr/>
        </p:nvSpPr>
        <p:spPr>
          <a:xfrm>
            <a:off x="594360" y="6565392"/>
            <a:ext cx="3840480" cy="146304"/>
          </a:xfrm>
          <a:prstGeom prst="rect">
            <a:avLst/>
          </a:prstGeom>
          <a:noFill/>
          <a:ln/>
        </p:spPr>
        <p:txBody>
          <a:bodyPr wrap="square" lIns="0" tIns="0" rIns="0" bIns="0" rtlCol="0" anchor="ctr"/>
          <a:lstStyle/>
          <a:p>
            <a:pPr indent="0" marL="0">
              <a:buNone/>
            </a:pPr>
            <a:r>
              <a:rPr lang="en-US" sz="680" dirty="0">
                <a:solidFill>
                  <a:srgbClr val="9FB3C8"/>
                </a:solidFill>
              </a:rPr>
              <a:t>Gridiron Brief  |  Project 3 Showcase</a:t>
            </a:r>
            <a:endParaRPr lang="en-US" sz="680" dirty="0"/>
          </a:p>
        </p:txBody>
      </p:sp>
      <p:sp>
        <p:nvSpPr>
          <p:cNvPr id="22" name="Text 19"/>
          <p:cNvSpPr/>
          <p:nvPr/>
        </p:nvSpPr>
        <p:spPr>
          <a:xfrm>
            <a:off x="11119104" y="6565392"/>
            <a:ext cx="457200" cy="146304"/>
          </a:xfrm>
          <a:prstGeom prst="rect">
            <a:avLst/>
          </a:prstGeom>
          <a:noFill/>
          <a:ln/>
        </p:spPr>
        <p:txBody>
          <a:bodyPr wrap="square" lIns="0" tIns="0" rIns="0" bIns="0" rtlCol="0" anchor="ctr"/>
          <a:lstStyle/>
          <a:p>
            <a:pPr algn="r" indent="0" marL="0">
              <a:buNone/>
            </a:pPr>
            <a:r>
              <a:rPr lang="en-US" sz="680" dirty="0">
                <a:solidFill>
                  <a:srgbClr val="9FB3C8"/>
                </a:solidFill>
              </a:rPr>
              <a:t>5/8</a:t>
            </a:r>
            <a:endParaRPr lang="en-US" sz="68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3101D"/>
        </a:solidFill>
      </p:bgPr>
    </p:bg>
    <p:spTree>
      <p:nvGrpSpPr>
        <p:cNvPr id="1" name=""/>
        <p:cNvGrpSpPr/>
        <p:nvPr/>
      </p:nvGrpSpPr>
      <p:grpSpPr>
        <a:xfrm>
          <a:off x="0" y="0"/>
          <a:ext cx="0" cy="0"/>
          <a:chOff x="0" y="0"/>
          <a:chExt cx="0" cy="0"/>
        </a:xfrm>
      </p:grpSpPr>
      <p:sp>
        <p:nvSpPr>
          <p:cNvPr id="2" name="Text 0"/>
          <p:cNvSpPr/>
          <p:nvPr/>
        </p:nvSpPr>
        <p:spPr>
          <a:xfrm>
            <a:off x="594360" y="438912"/>
            <a:ext cx="7589520" cy="475488"/>
          </a:xfrm>
          <a:prstGeom prst="rect">
            <a:avLst/>
          </a:prstGeom>
          <a:noFill/>
          <a:ln/>
        </p:spPr>
        <p:txBody>
          <a:bodyPr wrap="square" lIns="0" tIns="0" rIns="0" bIns="0" rtlCol="0" anchor="ctr">
            <a:normAutofit/>
          </a:bodyPr>
          <a:lstStyle/>
          <a:p>
            <a:pPr indent="0" marL="0">
              <a:buNone/>
            </a:pPr>
            <a:r>
              <a:rPr lang="en-US" sz="2600" b="1" dirty="0">
                <a:solidFill>
                  <a:srgbClr val="F7FAFC"/>
                </a:solidFill>
                <a:latin typeface="Aptos Display" pitchFamily="34" charset="0"/>
                <a:ea typeface="Aptos Display" pitchFamily="34" charset="-122"/>
                <a:cs typeface="Aptos Display" pitchFamily="34" charset="-120"/>
              </a:rPr>
              <a:t>Quantitative Results</a:t>
            </a:r>
            <a:endParaRPr lang="en-US" sz="2600" dirty="0"/>
          </a:p>
        </p:txBody>
      </p:sp>
      <p:sp>
        <p:nvSpPr>
          <p:cNvPr id="3" name="Text 1"/>
          <p:cNvSpPr/>
          <p:nvPr/>
        </p:nvSpPr>
        <p:spPr>
          <a:xfrm>
            <a:off x="594360" y="941832"/>
            <a:ext cx="7589520" cy="329184"/>
          </a:xfrm>
          <a:prstGeom prst="rect">
            <a:avLst/>
          </a:prstGeom>
          <a:noFill/>
          <a:ln/>
        </p:spPr>
        <p:txBody>
          <a:bodyPr wrap="square" lIns="0" tIns="0" rIns="0" bIns="0" rtlCol="0" anchor="ctr">
            <a:normAutofit/>
          </a:bodyPr>
          <a:lstStyle/>
          <a:p>
            <a:pPr indent="0" marL="0">
              <a:buNone/>
            </a:pPr>
            <a:r>
              <a:rPr lang="en-US" sz="1150" dirty="0">
                <a:solidFill>
                  <a:srgbClr val="35D0E6"/>
                </a:solidFill>
                <a:latin typeface="Aptos" pitchFamily="34" charset="0"/>
                <a:ea typeface="Aptos" pitchFamily="34" charset="-122"/>
                <a:cs typeface="Aptos" pitchFamily="34" charset="-120"/>
              </a:rPr>
              <a:t>Final refinement greatly improved ROUGE, with one target exceeded</a:t>
            </a:r>
            <a:endParaRPr lang="en-US" sz="1150" dirty="0"/>
          </a:p>
        </p:txBody>
      </p:sp>
      <p:graphicFrame>
        <p:nvGraphicFramePr>
          <p:cNvPr id="4" name="Chart 0" descr=""/>
          <p:cNvGraphicFramePr/>
          <p:nvPr/>
        </p:nvGraphicFramePr>
        <p:xfrm>
          <a:off x="676656" y="1417320"/>
          <a:ext cx="6675120" cy="4160520"/>
        </p:xfrm>
        <a:graphic xmlns:a="http://schemas.openxmlformats.org/drawingml/2006/main">
          <a:graphicData uri="http://schemas.openxmlformats.org/drawingml/2006/chart">
            <c:chart xmlns:c="http://schemas.openxmlformats.org/drawingml/2006/chart" r:id="rId1"/>
          </a:graphicData>
        </a:graphic>
      </p:graphicFrame>
      <p:sp>
        <p:nvSpPr>
          <p:cNvPr id="5" name="Text 2"/>
          <p:cNvSpPr/>
          <p:nvPr/>
        </p:nvSpPr>
        <p:spPr>
          <a:xfrm>
            <a:off x="7818120" y="1463040"/>
            <a:ext cx="3474720" cy="320040"/>
          </a:xfrm>
          <a:prstGeom prst="rect">
            <a:avLst/>
          </a:prstGeom>
          <a:noFill/>
          <a:ln/>
        </p:spPr>
        <p:txBody>
          <a:bodyPr wrap="square" lIns="0" tIns="0" rIns="0" bIns="0" rtlCol="0" anchor="ctr"/>
          <a:lstStyle/>
          <a:p>
            <a:pPr indent="0" marL="0">
              <a:buNone/>
            </a:pPr>
            <a:r>
              <a:rPr lang="en-US" sz="1300" b="1" dirty="0">
                <a:solidFill>
                  <a:srgbClr val="F7FAFC"/>
                </a:solidFill>
              </a:rPr>
              <a:t>Final model gains</a:t>
            </a:r>
            <a:endParaRPr lang="en-US" sz="1300" dirty="0"/>
          </a:p>
        </p:txBody>
      </p:sp>
      <p:sp>
        <p:nvSpPr>
          <p:cNvPr id="6" name="Text 3"/>
          <p:cNvSpPr/>
          <p:nvPr/>
        </p:nvSpPr>
        <p:spPr>
          <a:xfrm>
            <a:off x="7845552" y="1965960"/>
            <a:ext cx="2011680" cy="530352"/>
          </a:xfrm>
          <a:prstGeom prst="rect">
            <a:avLst/>
          </a:prstGeom>
          <a:noFill/>
          <a:ln/>
        </p:spPr>
        <p:txBody>
          <a:bodyPr wrap="square" lIns="0" tIns="0" rIns="0" bIns="0" rtlCol="0" anchor="ctr">
            <a:normAutofit/>
          </a:bodyPr>
          <a:lstStyle/>
          <a:p>
            <a:pPr indent="0" marL="0">
              <a:buNone/>
            </a:pPr>
            <a:r>
              <a:rPr lang="en-US" sz="2500" b="1" dirty="0">
                <a:solidFill>
                  <a:srgbClr val="35D0E6"/>
                </a:solidFill>
              </a:rPr>
              <a:t>+17.72</a:t>
            </a:r>
            <a:endParaRPr lang="en-US" sz="2500" dirty="0"/>
          </a:p>
        </p:txBody>
      </p:sp>
      <p:sp>
        <p:nvSpPr>
          <p:cNvPr id="7" name="Text 4"/>
          <p:cNvSpPr/>
          <p:nvPr/>
        </p:nvSpPr>
        <p:spPr>
          <a:xfrm>
            <a:off x="7845552" y="2532888"/>
            <a:ext cx="2148840" cy="393192"/>
          </a:xfrm>
          <a:prstGeom prst="rect">
            <a:avLst/>
          </a:prstGeom>
          <a:noFill/>
          <a:ln/>
        </p:spPr>
        <p:txBody>
          <a:bodyPr wrap="square" lIns="0" tIns="0" rIns="0" bIns="0" rtlCol="0" anchor="ctr">
            <a:normAutofit/>
          </a:bodyPr>
          <a:lstStyle/>
          <a:p>
            <a:pPr indent="0" marL="0">
              <a:buNone/>
            </a:pPr>
            <a:r>
              <a:rPr lang="en-US" sz="860" dirty="0">
                <a:solidFill>
                  <a:srgbClr val="D6E3F0"/>
                </a:solidFill>
              </a:rPr>
              <a:t>ROUGE-1 improvement</a:t>
            </a:r>
            <a:endParaRPr lang="en-US" sz="860" dirty="0"/>
          </a:p>
        </p:txBody>
      </p:sp>
      <p:sp>
        <p:nvSpPr>
          <p:cNvPr id="8" name="Text 5"/>
          <p:cNvSpPr/>
          <p:nvPr/>
        </p:nvSpPr>
        <p:spPr>
          <a:xfrm>
            <a:off x="7845552" y="3154680"/>
            <a:ext cx="2011680" cy="530352"/>
          </a:xfrm>
          <a:prstGeom prst="rect">
            <a:avLst/>
          </a:prstGeom>
          <a:noFill/>
          <a:ln/>
        </p:spPr>
        <p:txBody>
          <a:bodyPr wrap="square" lIns="0" tIns="0" rIns="0" bIns="0" rtlCol="0" anchor="ctr">
            <a:normAutofit/>
          </a:bodyPr>
          <a:lstStyle/>
          <a:p>
            <a:pPr indent="0" marL="0">
              <a:buNone/>
            </a:pPr>
            <a:r>
              <a:rPr lang="en-US" sz="2500" b="1" dirty="0">
                <a:solidFill>
                  <a:srgbClr val="66E38E"/>
                </a:solidFill>
              </a:rPr>
              <a:t>+11.10</a:t>
            </a:r>
            <a:endParaRPr lang="en-US" sz="2500" dirty="0"/>
          </a:p>
        </p:txBody>
      </p:sp>
      <p:sp>
        <p:nvSpPr>
          <p:cNvPr id="9" name="Text 6"/>
          <p:cNvSpPr/>
          <p:nvPr/>
        </p:nvSpPr>
        <p:spPr>
          <a:xfrm>
            <a:off x="7845552" y="3721608"/>
            <a:ext cx="2148840" cy="393192"/>
          </a:xfrm>
          <a:prstGeom prst="rect">
            <a:avLst/>
          </a:prstGeom>
          <a:noFill/>
          <a:ln/>
        </p:spPr>
        <p:txBody>
          <a:bodyPr wrap="square" lIns="0" tIns="0" rIns="0" bIns="0" rtlCol="0" anchor="ctr">
            <a:normAutofit/>
          </a:bodyPr>
          <a:lstStyle/>
          <a:p>
            <a:pPr indent="0" marL="0">
              <a:buNone/>
            </a:pPr>
            <a:r>
              <a:rPr lang="en-US" sz="860" dirty="0">
                <a:solidFill>
                  <a:srgbClr val="D6E3F0"/>
                </a:solidFill>
              </a:rPr>
              <a:t>ROUGE-2 improvement</a:t>
            </a:r>
            <a:endParaRPr lang="en-US" sz="860" dirty="0"/>
          </a:p>
        </p:txBody>
      </p:sp>
      <p:sp>
        <p:nvSpPr>
          <p:cNvPr id="10" name="Text 7"/>
          <p:cNvSpPr/>
          <p:nvPr/>
        </p:nvSpPr>
        <p:spPr>
          <a:xfrm>
            <a:off x="10012680" y="3154680"/>
            <a:ext cx="2011680" cy="530352"/>
          </a:xfrm>
          <a:prstGeom prst="rect">
            <a:avLst/>
          </a:prstGeom>
          <a:noFill/>
          <a:ln/>
        </p:spPr>
        <p:txBody>
          <a:bodyPr wrap="square" lIns="0" tIns="0" rIns="0" bIns="0" rtlCol="0" anchor="ctr">
            <a:normAutofit/>
          </a:bodyPr>
          <a:lstStyle/>
          <a:p>
            <a:pPr indent="0" marL="0">
              <a:buNone/>
            </a:pPr>
            <a:r>
              <a:rPr lang="en-US" sz="2500" b="1" dirty="0">
                <a:solidFill>
                  <a:srgbClr val="FFB84D"/>
                </a:solidFill>
              </a:rPr>
              <a:t>+10.97</a:t>
            </a:r>
            <a:endParaRPr lang="en-US" sz="2500" dirty="0"/>
          </a:p>
        </p:txBody>
      </p:sp>
      <p:sp>
        <p:nvSpPr>
          <p:cNvPr id="11" name="Text 8"/>
          <p:cNvSpPr/>
          <p:nvPr/>
        </p:nvSpPr>
        <p:spPr>
          <a:xfrm>
            <a:off x="10012680" y="3721608"/>
            <a:ext cx="2148840" cy="393192"/>
          </a:xfrm>
          <a:prstGeom prst="rect">
            <a:avLst/>
          </a:prstGeom>
          <a:noFill/>
          <a:ln/>
        </p:spPr>
        <p:txBody>
          <a:bodyPr wrap="square" lIns="0" tIns="0" rIns="0" bIns="0" rtlCol="0" anchor="ctr">
            <a:normAutofit/>
          </a:bodyPr>
          <a:lstStyle/>
          <a:p>
            <a:pPr indent="0" marL="0">
              <a:buNone/>
            </a:pPr>
            <a:r>
              <a:rPr lang="en-US" sz="860" dirty="0">
                <a:solidFill>
                  <a:srgbClr val="D6E3F0"/>
                </a:solidFill>
              </a:rPr>
              <a:t>ROUGE-L improvement</a:t>
            </a:r>
            <a:endParaRPr lang="en-US" sz="860" dirty="0"/>
          </a:p>
        </p:txBody>
      </p:sp>
      <p:sp>
        <p:nvSpPr>
          <p:cNvPr id="12" name="Text 9"/>
          <p:cNvSpPr/>
          <p:nvPr/>
        </p:nvSpPr>
        <p:spPr>
          <a:xfrm>
            <a:off x="7845552" y="4736592"/>
            <a:ext cx="3337560" cy="320040"/>
          </a:xfrm>
          <a:prstGeom prst="rect">
            <a:avLst/>
          </a:prstGeom>
          <a:noFill/>
          <a:ln/>
        </p:spPr>
        <p:txBody>
          <a:bodyPr wrap="square" lIns="0" tIns="0" rIns="0" bIns="0" rtlCol="0" anchor="ctr">
            <a:normAutofit/>
          </a:bodyPr>
          <a:lstStyle/>
          <a:p>
            <a:pPr indent="0" marL="0">
              <a:buNone/>
            </a:pPr>
            <a:r>
              <a:rPr lang="en-US" sz="1300" b="1" dirty="0">
                <a:solidFill>
                  <a:srgbClr val="F7FAFC"/>
                </a:solidFill>
              </a:rPr>
              <a:t>ROUGE-2 target met: 13.23 vs. 12</a:t>
            </a:r>
            <a:endParaRPr lang="en-US" sz="1300" dirty="0"/>
          </a:p>
        </p:txBody>
      </p:sp>
      <p:sp>
        <p:nvSpPr>
          <p:cNvPr id="13" name="Text 10"/>
          <p:cNvSpPr/>
          <p:nvPr/>
        </p:nvSpPr>
        <p:spPr>
          <a:xfrm>
            <a:off x="7845552" y="5166360"/>
            <a:ext cx="3337560" cy="548640"/>
          </a:xfrm>
          <a:prstGeom prst="rect">
            <a:avLst/>
          </a:prstGeom>
          <a:noFill/>
          <a:ln/>
        </p:spPr>
        <p:txBody>
          <a:bodyPr wrap="square" lIns="0" tIns="0" rIns="0" bIns="0" rtlCol="0" anchor="ctr">
            <a:normAutofit/>
          </a:bodyPr>
          <a:lstStyle/>
          <a:p>
            <a:pPr indent="0" marL="0">
              <a:buNone/>
            </a:pPr>
            <a:r>
              <a:rPr lang="en-US" sz="1020" dirty="0">
                <a:solidFill>
                  <a:srgbClr val="D6E3F0"/>
                </a:solidFill>
              </a:rPr>
              <a:t>ROUGE-1 and ROUGE-L improved substantially but remained below target.</a:t>
            </a:r>
            <a:endParaRPr lang="en-US" sz="1020" dirty="0"/>
          </a:p>
        </p:txBody>
      </p:sp>
      <p:sp>
        <p:nvSpPr>
          <p:cNvPr id="14" name="Shape 11"/>
          <p:cNvSpPr/>
          <p:nvPr/>
        </p:nvSpPr>
        <p:spPr>
          <a:xfrm>
            <a:off x="594360" y="6473952"/>
            <a:ext cx="10972800" cy="0"/>
          </a:xfrm>
          <a:prstGeom prst="line">
            <a:avLst/>
          </a:prstGeom>
          <a:noFill/>
          <a:ln w="7620">
            <a:solidFill>
              <a:srgbClr val="33506A">
                <a:alpha val="60000"/>
              </a:srgbClr>
            </a:solidFill>
            <a:prstDash val="solid"/>
          </a:ln>
        </p:spPr>
      </p:sp>
      <p:sp>
        <p:nvSpPr>
          <p:cNvPr id="15" name="Text 12"/>
          <p:cNvSpPr/>
          <p:nvPr/>
        </p:nvSpPr>
        <p:spPr>
          <a:xfrm>
            <a:off x="594360" y="6565392"/>
            <a:ext cx="3840480" cy="146304"/>
          </a:xfrm>
          <a:prstGeom prst="rect">
            <a:avLst/>
          </a:prstGeom>
          <a:noFill/>
          <a:ln/>
        </p:spPr>
        <p:txBody>
          <a:bodyPr wrap="square" lIns="0" tIns="0" rIns="0" bIns="0" rtlCol="0" anchor="ctr"/>
          <a:lstStyle/>
          <a:p>
            <a:pPr indent="0" marL="0">
              <a:buNone/>
            </a:pPr>
            <a:r>
              <a:rPr lang="en-US" sz="680" dirty="0">
                <a:solidFill>
                  <a:srgbClr val="9FB3C8"/>
                </a:solidFill>
              </a:rPr>
              <a:t>Gridiron Brief  |  Project 3 Showcase</a:t>
            </a:r>
            <a:endParaRPr lang="en-US" sz="680" dirty="0"/>
          </a:p>
        </p:txBody>
      </p:sp>
      <p:sp>
        <p:nvSpPr>
          <p:cNvPr id="16" name="Text 13"/>
          <p:cNvSpPr/>
          <p:nvPr/>
        </p:nvSpPr>
        <p:spPr>
          <a:xfrm>
            <a:off x="11119104" y="6565392"/>
            <a:ext cx="457200" cy="146304"/>
          </a:xfrm>
          <a:prstGeom prst="rect">
            <a:avLst/>
          </a:prstGeom>
          <a:noFill/>
          <a:ln/>
        </p:spPr>
        <p:txBody>
          <a:bodyPr wrap="square" lIns="0" tIns="0" rIns="0" bIns="0" rtlCol="0" anchor="ctr"/>
          <a:lstStyle/>
          <a:p>
            <a:pPr algn="r" indent="0" marL="0">
              <a:buNone/>
            </a:pPr>
            <a:r>
              <a:rPr lang="en-US" sz="680" dirty="0">
                <a:solidFill>
                  <a:srgbClr val="9FB3C8"/>
                </a:solidFill>
              </a:rPr>
              <a:t>6/8</a:t>
            </a:r>
            <a:endParaRPr lang="en-US" sz="68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3101D"/>
        </a:solidFill>
      </p:bgPr>
    </p:bg>
    <p:spTree>
      <p:nvGrpSpPr>
        <p:cNvPr id="1" name=""/>
        <p:cNvGrpSpPr/>
        <p:nvPr/>
      </p:nvGrpSpPr>
      <p:grpSpPr>
        <a:xfrm>
          <a:off x="0" y="0"/>
          <a:ext cx="0" cy="0"/>
          <a:chOff x="0" y="0"/>
          <a:chExt cx="0" cy="0"/>
        </a:xfrm>
      </p:grpSpPr>
      <p:sp>
        <p:nvSpPr>
          <p:cNvPr id="2" name="Text 0"/>
          <p:cNvSpPr/>
          <p:nvPr/>
        </p:nvSpPr>
        <p:spPr>
          <a:xfrm>
            <a:off x="594360" y="438912"/>
            <a:ext cx="8869680" cy="475488"/>
          </a:xfrm>
          <a:prstGeom prst="rect">
            <a:avLst/>
          </a:prstGeom>
          <a:noFill/>
          <a:ln/>
        </p:spPr>
        <p:txBody>
          <a:bodyPr wrap="square" lIns="0" tIns="0" rIns="0" bIns="0" rtlCol="0" anchor="ctr">
            <a:normAutofit/>
          </a:bodyPr>
          <a:lstStyle/>
          <a:p>
            <a:pPr indent="0" marL="0">
              <a:buNone/>
            </a:pPr>
            <a:r>
              <a:rPr lang="en-US" sz="2600" b="1" dirty="0">
                <a:solidFill>
                  <a:srgbClr val="F7FAFC"/>
                </a:solidFill>
                <a:latin typeface="Aptos Display" pitchFamily="34" charset="0"/>
                <a:ea typeface="Aptos Display" pitchFamily="34" charset="-122"/>
                <a:cs typeface="Aptos Display" pitchFamily="34" charset="-120"/>
              </a:rPr>
              <a:t>Results Demonstration</a:t>
            </a:r>
            <a:endParaRPr lang="en-US" sz="2600" dirty="0"/>
          </a:p>
        </p:txBody>
      </p:sp>
      <p:sp>
        <p:nvSpPr>
          <p:cNvPr id="3" name="Text 1"/>
          <p:cNvSpPr/>
          <p:nvPr/>
        </p:nvSpPr>
        <p:spPr>
          <a:xfrm>
            <a:off x="594360" y="941832"/>
            <a:ext cx="8869680" cy="329184"/>
          </a:xfrm>
          <a:prstGeom prst="rect">
            <a:avLst/>
          </a:prstGeom>
          <a:noFill/>
          <a:ln/>
        </p:spPr>
        <p:txBody>
          <a:bodyPr wrap="square" lIns="0" tIns="0" rIns="0" bIns="0" rtlCol="0" anchor="ctr">
            <a:normAutofit/>
          </a:bodyPr>
          <a:lstStyle/>
          <a:p>
            <a:pPr indent="0" marL="0">
              <a:buNone/>
            </a:pPr>
            <a:r>
              <a:rPr lang="en-US" sz="1150" dirty="0">
                <a:solidFill>
                  <a:srgbClr val="35D0E6"/>
                </a:solidFill>
                <a:latin typeface="Aptos" pitchFamily="34" charset="0"/>
                <a:ea typeface="Aptos" pitchFamily="34" charset="-122"/>
                <a:cs typeface="Aptos" pitchFamily="34" charset="-120"/>
              </a:rPr>
              <a:t>The model gets closer to the topic, but factual alignment remains the core limitation</a:t>
            </a:r>
            <a:endParaRPr lang="en-US" sz="1150" dirty="0"/>
          </a:p>
        </p:txBody>
      </p:sp>
      <p:sp>
        <p:nvSpPr>
          <p:cNvPr id="4" name="Text 2"/>
          <p:cNvSpPr/>
          <p:nvPr/>
        </p:nvSpPr>
        <p:spPr>
          <a:xfrm>
            <a:off x="685800" y="1389888"/>
            <a:ext cx="3108960" cy="228600"/>
          </a:xfrm>
          <a:prstGeom prst="rect">
            <a:avLst/>
          </a:prstGeom>
          <a:noFill/>
          <a:ln/>
        </p:spPr>
        <p:txBody>
          <a:bodyPr wrap="square" lIns="0" tIns="0" rIns="0" bIns="0" rtlCol="0" anchor="ctr"/>
          <a:lstStyle/>
          <a:p>
            <a:pPr indent="0" marL="0">
              <a:buNone/>
            </a:pPr>
            <a:r>
              <a:rPr lang="en-US" sz="1100" b="1" dirty="0">
                <a:solidFill>
                  <a:srgbClr val="35D0E6"/>
                </a:solidFill>
              </a:rPr>
              <a:t>Fantasy-football example</a:t>
            </a:r>
            <a:endParaRPr lang="en-US" sz="1100" dirty="0"/>
          </a:p>
        </p:txBody>
      </p:sp>
      <p:sp>
        <p:nvSpPr>
          <p:cNvPr id="5" name="Text 3"/>
          <p:cNvSpPr/>
          <p:nvPr/>
        </p:nvSpPr>
        <p:spPr>
          <a:xfrm>
            <a:off x="685800" y="1737360"/>
            <a:ext cx="2743200" cy="292608"/>
          </a:xfrm>
          <a:prstGeom prst="rect">
            <a:avLst/>
          </a:prstGeom>
          <a:noFill/>
          <a:ln/>
        </p:spPr>
        <p:txBody>
          <a:bodyPr wrap="square" lIns="0" tIns="0" rIns="0" bIns="0" rtlCol="0" anchor="ctr"/>
          <a:lstStyle/>
          <a:p>
            <a:pPr indent="0" marL="0">
              <a:buNone/>
            </a:pPr>
            <a:r>
              <a:rPr lang="en-US" sz="1700" b="1" dirty="0">
                <a:solidFill>
                  <a:srgbClr val="F7FAFC"/>
                </a:solidFill>
              </a:rPr>
              <a:t>Injury &amp; Waivers</a:t>
            </a:r>
            <a:endParaRPr lang="en-US" sz="1700" dirty="0"/>
          </a:p>
        </p:txBody>
      </p:sp>
      <p:sp>
        <p:nvSpPr>
          <p:cNvPr id="6" name="Text 4"/>
          <p:cNvSpPr/>
          <p:nvPr/>
        </p:nvSpPr>
        <p:spPr>
          <a:xfrm>
            <a:off x="685800" y="2176272"/>
            <a:ext cx="4663440" cy="841248"/>
          </a:xfrm>
          <a:prstGeom prst="rect">
            <a:avLst/>
          </a:prstGeom>
          <a:noFill/>
          <a:ln/>
        </p:spPr>
        <p:txBody>
          <a:bodyPr wrap="square" lIns="0" tIns="0" rIns="0" bIns="0" rtlCol="0" anchor="ctr">
            <a:normAutofit/>
          </a:bodyPr>
          <a:lstStyle/>
          <a:p>
            <a:pPr indent="0" marL="0">
              <a:buNone/>
            </a:pPr>
            <a:r>
              <a:rPr lang="en-US" sz="1300" dirty="0">
                <a:solidFill>
                  <a:srgbClr val="D6E3F0"/>
                </a:solidFill>
              </a:rPr>
              <a:t>Generated brief captured the injured starter, the backup option, and the planned waiver claim — the best domain-transfer result.</a:t>
            </a:r>
            <a:endParaRPr lang="en-US" sz="1300" dirty="0"/>
          </a:p>
        </p:txBody>
      </p:sp>
      <p:sp>
        <p:nvSpPr>
          <p:cNvPr id="7" name="Text 5"/>
          <p:cNvSpPr/>
          <p:nvPr/>
        </p:nvSpPr>
        <p:spPr>
          <a:xfrm>
            <a:off x="685800" y="3520440"/>
            <a:ext cx="3108960" cy="228600"/>
          </a:xfrm>
          <a:prstGeom prst="rect">
            <a:avLst/>
          </a:prstGeom>
          <a:noFill/>
          <a:ln/>
        </p:spPr>
        <p:txBody>
          <a:bodyPr wrap="square" lIns="0" tIns="0" rIns="0" bIns="0" rtlCol="0" anchor="ctr"/>
          <a:lstStyle/>
          <a:p>
            <a:pPr indent="0" marL="0">
              <a:buNone/>
            </a:pPr>
            <a:r>
              <a:rPr lang="en-US" sz="1100" b="1" dirty="0">
                <a:solidFill>
                  <a:srgbClr val="FF5C7A"/>
                </a:solidFill>
              </a:rPr>
              <a:t>Common failure mode</a:t>
            </a:r>
            <a:endParaRPr lang="en-US" sz="1100" dirty="0"/>
          </a:p>
        </p:txBody>
      </p:sp>
      <p:sp>
        <p:nvSpPr>
          <p:cNvPr id="8" name="Text 6"/>
          <p:cNvSpPr/>
          <p:nvPr/>
        </p:nvSpPr>
        <p:spPr>
          <a:xfrm>
            <a:off x="685800" y="3858768"/>
            <a:ext cx="4206240" cy="292608"/>
          </a:xfrm>
          <a:prstGeom prst="rect">
            <a:avLst/>
          </a:prstGeom>
          <a:noFill/>
          <a:ln/>
        </p:spPr>
        <p:txBody>
          <a:bodyPr wrap="square" lIns="0" tIns="0" rIns="0" bIns="0" rtlCol="0" anchor="ctr"/>
          <a:lstStyle/>
          <a:p>
            <a:pPr indent="0" marL="0">
              <a:buNone/>
            </a:pPr>
            <a:r>
              <a:rPr lang="en-US" sz="1700" b="1" dirty="0">
                <a:solidFill>
                  <a:srgbClr val="F7FAFC"/>
                </a:solidFill>
              </a:rPr>
              <a:t>Speaker confusion + repetition</a:t>
            </a:r>
            <a:endParaRPr lang="en-US" sz="1700" dirty="0"/>
          </a:p>
        </p:txBody>
      </p:sp>
      <p:sp>
        <p:nvSpPr>
          <p:cNvPr id="9" name="Text 7"/>
          <p:cNvSpPr/>
          <p:nvPr/>
        </p:nvSpPr>
        <p:spPr>
          <a:xfrm>
            <a:off x="685800" y="4297680"/>
            <a:ext cx="4846320" cy="777240"/>
          </a:xfrm>
          <a:prstGeom prst="rect">
            <a:avLst/>
          </a:prstGeom>
          <a:noFill/>
          <a:ln/>
        </p:spPr>
        <p:txBody>
          <a:bodyPr wrap="square" lIns="0" tIns="0" rIns="0" bIns="0" rtlCol="0" anchor="ctr">
            <a:normAutofit/>
          </a:bodyPr>
          <a:lstStyle/>
          <a:p>
            <a:pPr indent="0" marL="0">
              <a:buNone/>
            </a:pPr>
            <a:r>
              <a:rPr lang="en-US" sz="1300" dirty="0">
                <a:solidFill>
                  <a:srgbClr val="D6E3F0"/>
                </a:solidFill>
              </a:rPr>
              <a:t>Across multiple examples, the model stayed on-topic but incorrectly assigned trades, votes, or actions to the wrong league member.</a:t>
            </a:r>
            <a:endParaRPr lang="en-US" sz="1300" dirty="0"/>
          </a:p>
        </p:txBody>
      </p:sp>
      <p:sp>
        <p:nvSpPr>
          <p:cNvPr id="10" name="Shape 8"/>
          <p:cNvSpPr/>
          <p:nvPr/>
        </p:nvSpPr>
        <p:spPr>
          <a:xfrm>
            <a:off x="6035040" y="1261872"/>
            <a:ext cx="0" cy="4480560"/>
          </a:xfrm>
          <a:prstGeom prst="line">
            <a:avLst/>
          </a:prstGeom>
          <a:noFill/>
          <a:ln w="12700">
            <a:solidFill>
              <a:srgbClr val="33506A">
                <a:alpha val="70000"/>
              </a:srgbClr>
            </a:solidFill>
            <a:prstDash val="solid"/>
          </a:ln>
        </p:spPr>
      </p:sp>
      <p:sp>
        <p:nvSpPr>
          <p:cNvPr id="11" name="Text 9"/>
          <p:cNvSpPr/>
          <p:nvPr/>
        </p:nvSpPr>
        <p:spPr>
          <a:xfrm>
            <a:off x="6583680" y="1481328"/>
            <a:ext cx="2011680" cy="530352"/>
          </a:xfrm>
          <a:prstGeom prst="rect">
            <a:avLst/>
          </a:prstGeom>
          <a:noFill/>
          <a:ln/>
        </p:spPr>
        <p:txBody>
          <a:bodyPr wrap="square" lIns="0" tIns="0" rIns="0" bIns="0" rtlCol="0" anchor="ctr">
            <a:normAutofit/>
          </a:bodyPr>
          <a:lstStyle/>
          <a:p>
            <a:pPr indent="0" marL="0">
              <a:buNone/>
            </a:pPr>
            <a:r>
              <a:rPr lang="en-US" sz="2500" b="1" dirty="0">
                <a:solidFill>
                  <a:srgbClr val="35D0E6"/>
                </a:solidFill>
              </a:rPr>
              <a:t>60%</a:t>
            </a:r>
            <a:endParaRPr lang="en-US" sz="2500" dirty="0"/>
          </a:p>
        </p:txBody>
      </p:sp>
      <p:sp>
        <p:nvSpPr>
          <p:cNvPr id="12" name="Text 10"/>
          <p:cNvSpPr/>
          <p:nvPr/>
        </p:nvSpPr>
        <p:spPr>
          <a:xfrm>
            <a:off x="6583680" y="2048256"/>
            <a:ext cx="2148840" cy="393192"/>
          </a:xfrm>
          <a:prstGeom prst="rect">
            <a:avLst/>
          </a:prstGeom>
          <a:noFill/>
          <a:ln/>
        </p:spPr>
        <p:txBody>
          <a:bodyPr wrap="square" lIns="0" tIns="0" rIns="0" bIns="0" rtlCol="0" anchor="ctr">
            <a:normAutofit/>
          </a:bodyPr>
          <a:lstStyle/>
          <a:p>
            <a:pPr indent="0" marL="0">
              <a:buNone/>
            </a:pPr>
            <a:r>
              <a:rPr lang="en-US" sz="860" dirty="0">
                <a:solidFill>
                  <a:srgbClr val="D6E3F0"/>
                </a:solidFill>
              </a:rPr>
              <a:t>main idea preserved in 10-example review</a:t>
            </a:r>
            <a:endParaRPr lang="en-US" sz="860" dirty="0"/>
          </a:p>
        </p:txBody>
      </p:sp>
      <p:sp>
        <p:nvSpPr>
          <p:cNvPr id="13" name="Text 11"/>
          <p:cNvSpPr/>
          <p:nvPr/>
        </p:nvSpPr>
        <p:spPr>
          <a:xfrm>
            <a:off x="9034272" y="1481328"/>
            <a:ext cx="2011680" cy="530352"/>
          </a:xfrm>
          <a:prstGeom prst="rect">
            <a:avLst/>
          </a:prstGeom>
          <a:noFill/>
          <a:ln/>
        </p:spPr>
        <p:txBody>
          <a:bodyPr wrap="square" lIns="0" tIns="0" rIns="0" bIns="0" rtlCol="0" anchor="ctr">
            <a:normAutofit/>
          </a:bodyPr>
          <a:lstStyle/>
          <a:p>
            <a:pPr indent="0" marL="0">
              <a:buNone/>
            </a:pPr>
            <a:r>
              <a:rPr lang="en-US" sz="2500" b="1" dirty="0">
                <a:solidFill>
                  <a:srgbClr val="66E38E"/>
                </a:solidFill>
              </a:rPr>
              <a:t>60%</a:t>
            </a:r>
            <a:endParaRPr lang="en-US" sz="2500" dirty="0"/>
          </a:p>
        </p:txBody>
      </p:sp>
      <p:sp>
        <p:nvSpPr>
          <p:cNvPr id="14" name="Text 12"/>
          <p:cNvSpPr/>
          <p:nvPr/>
        </p:nvSpPr>
        <p:spPr>
          <a:xfrm>
            <a:off x="9034272" y="2048256"/>
            <a:ext cx="2148840" cy="393192"/>
          </a:xfrm>
          <a:prstGeom prst="rect">
            <a:avLst/>
          </a:prstGeom>
          <a:noFill/>
          <a:ln/>
        </p:spPr>
        <p:txBody>
          <a:bodyPr wrap="square" lIns="0" tIns="0" rIns="0" bIns="0" rtlCol="0" anchor="ctr">
            <a:normAutofit/>
          </a:bodyPr>
          <a:lstStyle/>
          <a:p>
            <a:pPr indent="0" marL="0">
              <a:buNone/>
            </a:pPr>
            <a:r>
              <a:rPr lang="en-US" sz="860" dirty="0">
                <a:solidFill>
                  <a:srgbClr val="D6E3F0"/>
                </a:solidFill>
              </a:rPr>
              <a:t>readable enough to understand</a:t>
            </a:r>
            <a:endParaRPr lang="en-US" sz="860" dirty="0"/>
          </a:p>
        </p:txBody>
      </p:sp>
      <p:sp>
        <p:nvSpPr>
          <p:cNvPr id="15" name="Text 13"/>
          <p:cNvSpPr/>
          <p:nvPr/>
        </p:nvSpPr>
        <p:spPr>
          <a:xfrm>
            <a:off x="7735824" y="2971800"/>
            <a:ext cx="2011680" cy="530352"/>
          </a:xfrm>
          <a:prstGeom prst="rect">
            <a:avLst/>
          </a:prstGeom>
          <a:noFill/>
          <a:ln/>
        </p:spPr>
        <p:txBody>
          <a:bodyPr wrap="square" lIns="0" tIns="0" rIns="0" bIns="0" rtlCol="0" anchor="ctr">
            <a:normAutofit/>
          </a:bodyPr>
          <a:lstStyle/>
          <a:p>
            <a:pPr indent="0" marL="0">
              <a:buNone/>
            </a:pPr>
            <a:r>
              <a:rPr lang="en-US" sz="2500" b="1" dirty="0">
                <a:solidFill>
                  <a:srgbClr val="FF5C7A"/>
                </a:solidFill>
              </a:rPr>
              <a:t>0%</a:t>
            </a:r>
            <a:endParaRPr lang="en-US" sz="2500" dirty="0"/>
          </a:p>
        </p:txBody>
      </p:sp>
      <p:sp>
        <p:nvSpPr>
          <p:cNvPr id="16" name="Text 14"/>
          <p:cNvSpPr/>
          <p:nvPr/>
        </p:nvSpPr>
        <p:spPr>
          <a:xfrm>
            <a:off x="7735824" y="3538728"/>
            <a:ext cx="2148840" cy="393192"/>
          </a:xfrm>
          <a:prstGeom prst="rect">
            <a:avLst/>
          </a:prstGeom>
          <a:noFill/>
          <a:ln/>
        </p:spPr>
        <p:txBody>
          <a:bodyPr wrap="square" lIns="0" tIns="0" rIns="0" bIns="0" rtlCol="0" anchor="ctr">
            <a:normAutofit/>
          </a:bodyPr>
          <a:lstStyle/>
          <a:p>
            <a:pPr indent="0" marL="0">
              <a:buNone/>
            </a:pPr>
            <a:r>
              <a:rPr lang="en-US" sz="860" dirty="0">
                <a:solidFill>
                  <a:srgbClr val="D6E3F0"/>
                </a:solidFill>
              </a:rPr>
              <a:t>fully factually supported under strict review</a:t>
            </a:r>
            <a:endParaRPr lang="en-US" sz="860" dirty="0"/>
          </a:p>
        </p:txBody>
      </p:sp>
      <p:sp>
        <p:nvSpPr>
          <p:cNvPr id="17" name="Text 15"/>
          <p:cNvSpPr/>
          <p:nvPr/>
        </p:nvSpPr>
        <p:spPr>
          <a:xfrm>
            <a:off x="6583680" y="4663440"/>
            <a:ext cx="2926080" cy="219456"/>
          </a:xfrm>
          <a:prstGeom prst="rect">
            <a:avLst/>
          </a:prstGeom>
          <a:noFill/>
          <a:ln/>
        </p:spPr>
        <p:txBody>
          <a:bodyPr wrap="square" lIns="0" tIns="0" rIns="0" bIns="0" rtlCol="0" anchor="ctr"/>
          <a:lstStyle/>
          <a:p>
            <a:pPr indent="0" marL="0">
              <a:buNone/>
            </a:pPr>
            <a:r>
              <a:rPr lang="en-US" sz="1100" b="1" dirty="0">
                <a:solidFill>
                  <a:srgbClr val="FFB84D"/>
                </a:solidFill>
              </a:rPr>
              <a:t>Evaluation takeaway</a:t>
            </a:r>
            <a:endParaRPr lang="en-US" sz="1100" dirty="0"/>
          </a:p>
        </p:txBody>
      </p:sp>
      <p:sp>
        <p:nvSpPr>
          <p:cNvPr id="18" name="Text 16"/>
          <p:cNvSpPr/>
          <p:nvPr/>
        </p:nvSpPr>
        <p:spPr>
          <a:xfrm>
            <a:off x="6583680" y="4992624"/>
            <a:ext cx="3886200" cy="621792"/>
          </a:xfrm>
          <a:prstGeom prst="rect">
            <a:avLst/>
          </a:prstGeom>
          <a:noFill/>
          <a:ln/>
        </p:spPr>
        <p:txBody>
          <a:bodyPr wrap="square" lIns="0" tIns="0" rIns="0" bIns="0" rtlCol="0" anchor="ctr">
            <a:normAutofit/>
          </a:bodyPr>
          <a:lstStyle/>
          <a:p>
            <a:pPr indent="0" marL="0">
              <a:buNone/>
            </a:pPr>
            <a:r>
              <a:rPr lang="en-US" sz="1420" b="1" dirty="0">
                <a:solidFill>
                  <a:srgbClr val="F7FAFC"/>
                </a:solidFill>
              </a:rPr>
              <a:t>ROUGE improved the overlap story; human review revealed the deployment risk.</a:t>
            </a:r>
            <a:endParaRPr lang="en-US" sz="1420" dirty="0"/>
          </a:p>
        </p:txBody>
      </p:sp>
      <p:sp>
        <p:nvSpPr>
          <p:cNvPr id="19" name="Shape 17"/>
          <p:cNvSpPr/>
          <p:nvPr/>
        </p:nvSpPr>
        <p:spPr>
          <a:xfrm>
            <a:off x="594360" y="6473952"/>
            <a:ext cx="10972800" cy="0"/>
          </a:xfrm>
          <a:prstGeom prst="line">
            <a:avLst/>
          </a:prstGeom>
          <a:noFill/>
          <a:ln w="7620">
            <a:solidFill>
              <a:srgbClr val="33506A">
                <a:alpha val="60000"/>
              </a:srgbClr>
            </a:solidFill>
            <a:prstDash val="solid"/>
          </a:ln>
        </p:spPr>
      </p:sp>
      <p:sp>
        <p:nvSpPr>
          <p:cNvPr id="20" name="Text 18"/>
          <p:cNvSpPr/>
          <p:nvPr/>
        </p:nvSpPr>
        <p:spPr>
          <a:xfrm>
            <a:off x="594360" y="6565392"/>
            <a:ext cx="3840480" cy="146304"/>
          </a:xfrm>
          <a:prstGeom prst="rect">
            <a:avLst/>
          </a:prstGeom>
          <a:noFill/>
          <a:ln/>
        </p:spPr>
        <p:txBody>
          <a:bodyPr wrap="square" lIns="0" tIns="0" rIns="0" bIns="0" rtlCol="0" anchor="ctr"/>
          <a:lstStyle/>
          <a:p>
            <a:pPr indent="0" marL="0">
              <a:buNone/>
            </a:pPr>
            <a:r>
              <a:rPr lang="en-US" sz="680" dirty="0">
                <a:solidFill>
                  <a:srgbClr val="9FB3C8"/>
                </a:solidFill>
              </a:rPr>
              <a:t>Gridiron Brief  |  Project 3 Showcase</a:t>
            </a:r>
            <a:endParaRPr lang="en-US" sz="680" dirty="0"/>
          </a:p>
        </p:txBody>
      </p:sp>
      <p:sp>
        <p:nvSpPr>
          <p:cNvPr id="21" name="Text 19"/>
          <p:cNvSpPr/>
          <p:nvPr/>
        </p:nvSpPr>
        <p:spPr>
          <a:xfrm>
            <a:off x="11119104" y="6565392"/>
            <a:ext cx="457200" cy="146304"/>
          </a:xfrm>
          <a:prstGeom prst="rect">
            <a:avLst/>
          </a:prstGeom>
          <a:noFill/>
          <a:ln/>
        </p:spPr>
        <p:txBody>
          <a:bodyPr wrap="square" lIns="0" tIns="0" rIns="0" bIns="0" rtlCol="0" anchor="ctr"/>
          <a:lstStyle/>
          <a:p>
            <a:pPr algn="r" indent="0" marL="0">
              <a:buNone/>
            </a:pPr>
            <a:r>
              <a:rPr lang="en-US" sz="680" dirty="0">
                <a:solidFill>
                  <a:srgbClr val="9FB3C8"/>
                </a:solidFill>
              </a:rPr>
              <a:t>7/8</a:t>
            </a:r>
            <a:endParaRPr lang="en-US" sz="68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3101D"/>
        </a:solidFill>
      </p:bgPr>
    </p:bg>
    <p:spTree>
      <p:nvGrpSpPr>
        <p:cNvPr id="1" name=""/>
        <p:cNvGrpSpPr/>
        <p:nvPr/>
      </p:nvGrpSpPr>
      <p:grpSpPr>
        <a:xfrm>
          <a:off x="0" y="0"/>
          <a:ext cx="0" cy="0"/>
          <a:chOff x="0" y="0"/>
          <a:chExt cx="0" cy="0"/>
        </a:xfrm>
      </p:grpSpPr>
      <p:sp>
        <p:nvSpPr>
          <p:cNvPr id="2" name="Text 0"/>
          <p:cNvSpPr/>
          <p:nvPr/>
        </p:nvSpPr>
        <p:spPr>
          <a:xfrm>
            <a:off x="594360" y="438912"/>
            <a:ext cx="5806440" cy="475488"/>
          </a:xfrm>
          <a:prstGeom prst="rect">
            <a:avLst/>
          </a:prstGeom>
          <a:noFill/>
          <a:ln/>
        </p:spPr>
        <p:txBody>
          <a:bodyPr wrap="square" lIns="0" tIns="0" rIns="0" bIns="0" rtlCol="0" anchor="ctr">
            <a:normAutofit/>
          </a:bodyPr>
          <a:lstStyle/>
          <a:p>
            <a:pPr indent="0" marL="0">
              <a:buNone/>
            </a:pPr>
            <a:r>
              <a:rPr lang="en-US" sz="2600" b="1" dirty="0">
                <a:solidFill>
                  <a:srgbClr val="F7FAFC"/>
                </a:solidFill>
                <a:latin typeface="Aptos Display" pitchFamily="34" charset="0"/>
                <a:ea typeface="Aptos Display" pitchFamily="34" charset="-122"/>
                <a:cs typeface="Aptos Display" pitchFamily="34" charset="-120"/>
              </a:rPr>
              <a:t>Business Impact &amp; Next Steps</a:t>
            </a:r>
            <a:endParaRPr lang="en-US" sz="2600" dirty="0"/>
          </a:p>
        </p:txBody>
      </p:sp>
      <p:sp>
        <p:nvSpPr>
          <p:cNvPr id="3" name="Text 1"/>
          <p:cNvSpPr/>
          <p:nvPr/>
        </p:nvSpPr>
        <p:spPr>
          <a:xfrm>
            <a:off x="594360" y="941832"/>
            <a:ext cx="5806440" cy="329184"/>
          </a:xfrm>
          <a:prstGeom prst="rect">
            <a:avLst/>
          </a:prstGeom>
          <a:noFill/>
          <a:ln/>
        </p:spPr>
        <p:txBody>
          <a:bodyPr wrap="square" lIns="0" tIns="0" rIns="0" bIns="0" rtlCol="0" anchor="ctr">
            <a:normAutofit/>
          </a:bodyPr>
          <a:lstStyle/>
          <a:p>
            <a:pPr indent="0" marL="0">
              <a:buNone/>
            </a:pPr>
            <a:r>
              <a:rPr lang="en-US" sz="1150" dirty="0">
                <a:solidFill>
                  <a:srgbClr val="35D0E6"/>
                </a:solidFill>
                <a:latin typeface="Aptos" pitchFamily="34" charset="0"/>
                <a:ea typeface="Aptos" pitchFamily="34" charset="-122"/>
                <a:cs typeface="Aptos" pitchFamily="34" charset="-120"/>
              </a:rPr>
              <a:t>Useful proof today; trustworthy product after factual-grounding work</a:t>
            </a:r>
            <a:endParaRPr lang="en-US" sz="1150" dirty="0"/>
          </a:p>
        </p:txBody>
      </p:sp>
      <p:pic>
        <p:nvPicPr>
          <p:cNvPr id="4" name="Image 0" descr="/mnt/data/a_wide_cinematic_colorful_illustration_3d_styliz_batch_3.png">    </p:cNvPr>
          <p:cNvPicPr>
            <a:picLocks noChangeAspect="1"/>
          </p:cNvPicPr>
          <p:nvPr/>
        </p:nvPicPr>
        <p:blipFill>
          <a:blip r:embed="rId1"/>
          <a:stretch>
            <a:fillRect/>
          </a:stretch>
        </p:blipFill>
        <p:spPr>
          <a:xfrm>
            <a:off x="6720840" y="1234440"/>
            <a:ext cx="4617720" cy="2596896"/>
          </a:xfrm>
          <a:prstGeom prst="rect">
            <a:avLst/>
          </a:prstGeom>
        </p:spPr>
      </p:pic>
      <p:sp>
        <p:nvSpPr>
          <p:cNvPr id="5" name="Text 2"/>
          <p:cNvSpPr/>
          <p:nvPr/>
        </p:nvSpPr>
        <p:spPr>
          <a:xfrm>
            <a:off x="658368" y="1508760"/>
            <a:ext cx="2286000" cy="228600"/>
          </a:xfrm>
          <a:prstGeom prst="rect">
            <a:avLst/>
          </a:prstGeom>
          <a:noFill/>
          <a:ln/>
        </p:spPr>
        <p:txBody>
          <a:bodyPr wrap="square" lIns="0" tIns="0" rIns="0" bIns="0" rtlCol="0" anchor="ctr"/>
          <a:lstStyle/>
          <a:p>
            <a:pPr indent="0" marL="0">
              <a:buNone/>
            </a:pPr>
            <a:r>
              <a:rPr lang="en-US" sz="1100" b="1" dirty="0">
                <a:solidFill>
                  <a:srgbClr val="66E38E"/>
                </a:solidFill>
              </a:rPr>
              <a:t>What worked</a:t>
            </a:r>
            <a:endParaRPr lang="en-US" sz="1100" dirty="0"/>
          </a:p>
        </p:txBody>
      </p:sp>
      <p:sp>
        <p:nvSpPr>
          <p:cNvPr id="6" name="Shape 3"/>
          <p:cNvSpPr/>
          <p:nvPr/>
        </p:nvSpPr>
        <p:spPr>
          <a:xfrm>
            <a:off x="658368" y="1911096"/>
            <a:ext cx="109728" cy="109728"/>
          </a:xfrm>
          <a:prstGeom prst="ellipse">
            <a:avLst/>
          </a:prstGeom>
          <a:solidFill>
            <a:srgbClr val="66E38E"/>
          </a:solidFill>
          <a:ln w="12700">
            <a:solidFill>
              <a:srgbClr val="66E38E">
                <a:alpha val="0"/>
              </a:srgbClr>
            </a:solidFill>
            <a:prstDash val="solid"/>
          </a:ln>
        </p:spPr>
      </p:sp>
      <p:sp>
        <p:nvSpPr>
          <p:cNvPr id="7" name="Text 4"/>
          <p:cNvSpPr/>
          <p:nvPr/>
        </p:nvSpPr>
        <p:spPr>
          <a:xfrm>
            <a:off x="859536" y="1874520"/>
            <a:ext cx="4846320" cy="384048"/>
          </a:xfrm>
          <a:prstGeom prst="rect">
            <a:avLst/>
          </a:prstGeom>
          <a:noFill/>
          <a:ln/>
        </p:spPr>
        <p:txBody>
          <a:bodyPr wrap="square" lIns="0" tIns="0" rIns="0" bIns="0" rtlCol="0" anchor="ctr">
            <a:normAutofit/>
          </a:bodyPr>
          <a:lstStyle/>
          <a:p>
            <a:pPr indent="0" marL="0">
              <a:buNone/>
            </a:pPr>
            <a:r>
              <a:rPr lang="en-US" sz="1100" dirty="0">
                <a:solidFill>
                  <a:srgbClr val="D6E3F0"/>
                </a:solidFill>
              </a:rPr>
              <a:t>Complete end-to-end transformer workflow</a:t>
            </a:r>
            <a:endParaRPr lang="en-US" sz="1100" dirty="0"/>
          </a:p>
        </p:txBody>
      </p:sp>
      <p:sp>
        <p:nvSpPr>
          <p:cNvPr id="8" name="Shape 5"/>
          <p:cNvSpPr/>
          <p:nvPr/>
        </p:nvSpPr>
        <p:spPr>
          <a:xfrm>
            <a:off x="658368" y="2368296"/>
            <a:ext cx="109728" cy="109728"/>
          </a:xfrm>
          <a:prstGeom prst="ellipse">
            <a:avLst/>
          </a:prstGeom>
          <a:solidFill>
            <a:srgbClr val="66E38E"/>
          </a:solidFill>
          <a:ln w="12700">
            <a:solidFill>
              <a:srgbClr val="66E38E">
                <a:alpha val="0"/>
              </a:srgbClr>
            </a:solidFill>
            <a:prstDash val="solid"/>
          </a:ln>
        </p:spPr>
      </p:sp>
      <p:sp>
        <p:nvSpPr>
          <p:cNvPr id="9" name="Text 6"/>
          <p:cNvSpPr/>
          <p:nvPr/>
        </p:nvSpPr>
        <p:spPr>
          <a:xfrm>
            <a:off x="859536" y="2331720"/>
            <a:ext cx="4846320" cy="384048"/>
          </a:xfrm>
          <a:prstGeom prst="rect">
            <a:avLst/>
          </a:prstGeom>
          <a:noFill/>
          <a:ln/>
        </p:spPr>
        <p:txBody>
          <a:bodyPr wrap="square" lIns="0" tIns="0" rIns="0" bIns="0" rtlCol="0" anchor="ctr">
            <a:normAutofit/>
          </a:bodyPr>
          <a:lstStyle/>
          <a:p>
            <a:pPr indent="0" marL="0">
              <a:buNone/>
            </a:pPr>
            <a:r>
              <a:rPr lang="en-US" sz="1100" dirty="0">
                <a:solidFill>
                  <a:srgbClr val="D6E3F0"/>
                </a:solidFill>
              </a:rPr>
              <a:t>Measurable ROUGE improvement over MVP</a:t>
            </a:r>
            <a:endParaRPr lang="en-US" sz="1100" dirty="0"/>
          </a:p>
        </p:txBody>
      </p:sp>
      <p:sp>
        <p:nvSpPr>
          <p:cNvPr id="10" name="Shape 7"/>
          <p:cNvSpPr/>
          <p:nvPr/>
        </p:nvSpPr>
        <p:spPr>
          <a:xfrm>
            <a:off x="658368" y="2825496"/>
            <a:ext cx="109728" cy="109728"/>
          </a:xfrm>
          <a:prstGeom prst="ellipse">
            <a:avLst/>
          </a:prstGeom>
          <a:solidFill>
            <a:srgbClr val="66E38E"/>
          </a:solidFill>
          <a:ln w="12700">
            <a:solidFill>
              <a:srgbClr val="66E38E">
                <a:alpha val="0"/>
              </a:srgbClr>
            </a:solidFill>
            <a:prstDash val="solid"/>
          </a:ln>
        </p:spPr>
      </p:sp>
      <p:sp>
        <p:nvSpPr>
          <p:cNvPr id="11" name="Text 8"/>
          <p:cNvSpPr/>
          <p:nvPr/>
        </p:nvSpPr>
        <p:spPr>
          <a:xfrm>
            <a:off x="859536" y="2788920"/>
            <a:ext cx="4846320" cy="384048"/>
          </a:xfrm>
          <a:prstGeom prst="rect">
            <a:avLst/>
          </a:prstGeom>
          <a:noFill/>
          <a:ln/>
        </p:spPr>
        <p:txBody>
          <a:bodyPr wrap="square" lIns="0" tIns="0" rIns="0" bIns="0" rtlCol="0" anchor="ctr">
            <a:normAutofit/>
          </a:bodyPr>
          <a:lstStyle/>
          <a:p>
            <a:pPr indent="0" marL="0">
              <a:buNone/>
            </a:pPr>
            <a:r>
              <a:rPr lang="en-US" sz="1100" dirty="0">
                <a:solidFill>
                  <a:srgbClr val="D6E3F0"/>
                </a:solidFill>
              </a:rPr>
              <a:t>Model saved and reloaded for independent inference</a:t>
            </a:r>
            <a:endParaRPr lang="en-US" sz="1100" dirty="0"/>
          </a:p>
        </p:txBody>
      </p:sp>
      <p:sp>
        <p:nvSpPr>
          <p:cNvPr id="12" name="Text 9"/>
          <p:cNvSpPr/>
          <p:nvPr/>
        </p:nvSpPr>
        <p:spPr>
          <a:xfrm>
            <a:off x="658368" y="3730752"/>
            <a:ext cx="2286000" cy="228600"/>
          </a:xfrm>
          <a:prstGeom prst="rect">
            <a:avLst/>
          </a:prstGeom>
          <a:noFill/>
          <a:ln/>
        </p:spPr>
        <p:txBody>
          <a:bodyPr wrap="square" lIns="0" tIns="0" rIns="0" bIns="0" rtlCol="0" anchor="ctr"/>
          <a:lstStyle/>
          <a:p>
            <a:pPr indent="0" marL="0">
              <a:buNone/>
            </a:pPr>
            <a:r>
              <a:rPr lang="en-US" sz="1100" b="1" dirty="0">
                <a:solidFill>
                  <a:srgbClr val="35D0E6"/>
                </a:solidFill>
              </a:rPr>
              <a:t>What comes next</a:t>
            </a:r>
            <a:endParaRPr lang="en-US" sz="1100" dirty="0"/>
          </a:p>
        </p:txBody>
      </p:sp>
      <p:sp>
        <p:nvSpPr>
          <p:cNvPr id="13" name="Shape 10"/>
          <p:cNvSpPr/>
          <p:nvPr/>
        </p:nvSpPr>
        <p:spPr>
          <a:xfrm>
            <a:off x="658368" y="4133088"/>
            <a:ext cx="109728" cy="109728"/>
          </a:xfrm>
          <a:prstGeom prst="ellipse">
            <a:avLst/>
          </a:prstGeom>
          <a:solidFill>
            <a:srgbClr val="35D0E6"/>
          </a:solidFill>
          <a:ln w="12700">
            <a:solidFill>
              <a:srgbClr val="35D0E6">
                <a:alpha val="0"/>
              </a:srgbClr>
            </a:solidFill>
            <a:prstDash val="solid"/>
          </a:ln>
        </p:spPr>
      </p:sp>
      <p:sp>
        <p:nvSpPr>
          <p:cNvPr id="14" name="Text 11"/>
          <p:cNvSpPr/>
          <p:nvPr/>
        </p:nvSpPr>
        <p:spPr>
          <a:xfrm>
            <a:off x="859536" y="4096512"/>
            <a:ext cx="4846320" cy="384048"/>
          </a:xfrm>
          <a:prstGeom prst="rect">
            <a:avLst/>
          </a:prstGeom>
          <a:noFill/>
          <a:ln/>
        </p:spPr>
        <p:txBody>
          <a:bodyPr wrap="square" lIns="0" tIns="0" rIns="0" bIns="0" rtlCol="0" anchor="ctr">
            <a:normAutofit/>
          </a:bodyPr>
          <a:lstStyle/>
          <a:p>
            <a:pPr indent="0" marL="0">
              <a:buNone/>
            </a:pPr>
            <a:r>
              <a:rPr lang="en-US" sz="1100" dirty="0">
                <a:solidFill>
                  <a:srgbClr val="D6E3F0"/>
                </a:solidFill>
              </a:rPr>
              <a:t>Compare BERT against BART/T5 under the same protocol</a:t>
            </a:r>
            <a:endParaRPr lang="en-US" sz="1100" dirty="0"/>
          </a:p>
        </p:txBody>
      </p:sp>
      <p:sp>
        <p:nvSpPr>
          <p:cNvPr id="15" name="Shape 12"/>
          <p:cNvSpPr/>
          <p:nvPr/>
        </p:nvSpPr>
        <p:spPr>
          <a:xfrm>
            <a:off x="658368" y="4590288"/>
            <a:ext cx="109728" cy="109728"/>
          </a:xfrm>
          <a:prstGeom prst="ellipse">
            <a:avLst/>
          </a:prstGeom>
          <a:solidFill>
            <a:srgbClr val="35D0E6"/>
          </a:solidFill>
          <a:ln w="12700">
            <a:solidFill>
              <a:srgbClr val="35D0E6">
                <a:alpha val="0"/>
              </a:srgbClr>
            </a:solidFill>
            <a:prstDash val="solid"/>
          </a:ln>
        </p:spPr>
      </p:sp>
      <p:sp>
        <p:nvSpPr>
          <p:cNvPr id="16" name="Text 13"/>
          <p:cNvSpPr/>
          <p:nvPr/>
        </p:nvSpPr>
        <p:spPr>
          <a:xfrm>
            <a:off x="859536" y="4553712"/>
            <a:ext cx="5394960" cy="384048"/>
          </a:xfrm>
          <a:prstGeom prst="rect">
            <a:avLst/>
          </a:prstGeom>
          <a:noFill/>
          <a:ln/>
        </p:spPr>
        <p:txBody>
          <a:bodyPr wrap="square" lIns="0" tIns="0" rIns="0" bIns="0" rtlCol="0" anchor="ctr">
            <a:normAutofit/>
          </a:bodyPr>
          <a:lstStyle/>
          <a:p>
            <a:pPr indent="0" marL="0">
              <a:buNone/>
            </a:pPr>
            <a:r>
              <a:rPr lang="en-US" sz="1100" dirty="0">
                <a:solidFill>
                  <a:srgbClr val="D6E3F0"/>
                </a:solidFill>
              </a:rPr>
              <a:t>Add fantasy-football-specific dialogue after general summarization improves</a:t>
            </a:r>
            <a:endParaRPr lang="en-US" sz="1100" dirty="0"/>
          </a:p>
        </p:txBody>
      </p:sp>
      <p:sp>
        <p:nvSpPr>
          <p:cNvPr id="17" name="Shape 14"/>
          <p:cNvSpPr/>
          <p:nvPr/>
        </p:nvSpPr>
        <p:spPr>
          <a:xfrm>
            <a:off x="658368" y="5047488"/>
            <a:ext cx="109728" cy="109728"/>
          </a:xfrm>
          <a:prstGeom prst="ellipse">
            <a:avLst/>
          </a:prstGeom>
          <a:solidFill>
            <a:srgbClr val="35D0E6"/>
          </a:solidFill>
          <a:ln w="12700">
            <a:solidFill>
              <a:srgbClr val="35D0E6">
                <a:alpha val="0"/>
              </a:srgbClr>
            </a:solidFill>
            <a:prstDash val="solid"/>
          </a:ln>
        </p:spPr>
      </p:sp>
      <p:sp>
        <p:nvSpPr>
          <p:cNvPr id="18" name="Text 15"/>
          <p:cNvSpPr/>
          <p:nvPr/>
        </p:nvSpPr>
        <p:spPr>
          <a:xfrm>
            <a:off x="859536" y="5010912"/>
            <a:ext cx="4846320" cy="384048"/>
          </a:xfrm>
          <a:prstGeom prst="rect">
            <a:avLst/>
          </a:prstGeom>
          <a:noFill/>
          <a:ln/>
        </p:spPr>
        <p:txBody>
          <a:bodyPr wrap="square" lIns="0" tIns="0" rIns="0" bIns="0" rtlCol="0" anchor="ctr">
            <a:normAutofit/>
          </a:bodyPr>
          <a:lstStyle/>
          <a:p>
            <a:pPr indent="0" marL="0">
              <a:buNone/>
            </a:pPr>
            <a:r>
              <a:rPr lang="en-US" sz="1100" dirty="0">
                <a:solidFill>
                  <a:srgbClr val="D6E3F0"/>
                </a:solidFill>
              </a:rPr>
              <a:t>Require source-link verification before deployment</a:t>
            </a:r>
            <a:endParaRPr lang="en-US" sz="1100" dirty="0"/>
          </a:p>
        </p:txBody>
      </p:sp>
      <p:sp>
        <p:nvSpPr>
          <p:cNvPr id="19" name="Text 16"/>
          <p:cNvSpPr/>
          <p:nvPr/>
        </p:nvSpPr>
        <p:spPr>
          <a:xfrm>
            <a:off x="6720840" y="4315968"/>
            <a:ext cx="3108960" cy="256032"/>
          </a:xfrm>
          <a:prstGeom prst="rect">
            <a:avLst/>
          </a:prstGeom>
          <a:noFill/>
          <a:ln/>
        </p:spPr>
        <p:txBody>
          <a:bodyPr wrap="square" lIns="0" tIns="0" rIns="0" bIns="0" rtlCol="0" anchor="ctr"/>
          <a:lstStyle/>
          <a:p>
            <a:pPr indent="0" marL="0">
              <a:buNone/>
            </a:pPr>
            <a:r>
              <a:rPr lang="en-US" sz="1200" b="1" dirty="0">
                <a:solidFill>
                  <a:srgbClr val="FFB84D"/>
                </a:solidFill>
              </a:rPr>
              <a:t>Recommendation</a:t>
            </a:r>
            <a:endParaRPr lang="en-US" sz="1200" dirty="0"/>
          </a:p>
        </p:txBody>
      </p:sp>
      <p:sp>
        <p:nvSpPr>
          <p:cNvPr id="20" name="Text 17"/>
          <p:cNvSpPr/>
          <p:nvPr/>
        </p:nvSpPr>
        <p:spPr>
          <a:xfrm>
            <a:off x="6720840" y="4718304"/>
            <a:ext cx="4434840" cy="804672"/>
          </a:xfrm>
          <a:prstGeom prst="rect">
            <a:avLst/>
          </a:prstGeom>
          <a:noFill/>
          <a:ln/>
        </p:spPr>
        <p:txBody>
          <a:bodyPr wrap="square" lIns="0" tIns="0" rIns="0" bIns="0" rtlCol="0" anchor="ctr">
            <a:normAutofit/>
          </a:bodyPr>
          <a:lstStyle/>
          <a:p>
            <a:pPr indent="0" marL="0">
              <a:buNone/>
            </a:pPr>
            <a:r>
              <a:rPr lang="en-US" sz="1600" b="1" dirty="0">
                <a:solidFill>
                  <a:srgbClr val="F7FAFC"/>
                </a:solidFill>
              </a:rPr>
              <a:t>Deploy only as an assistive catch-up feature with links back to the original messages — not as an authoritative league record.</a:t>
            </a:r>
            <a:endParaRPr lang="en-US" sz="1600" dirty="0"/>
          </a:p>
        </p:txBody>
      </p:sp>
      <p:sp>
        <p:nvSpPr>
          <p:cNvPr id="21" name="Text 18"/>
          <p:cNvSpPr/>
          <p:nvPr/>
        </p:nvSpPr>
        <p:spPr>
          <a:xfrm>
            <a:off x="6720840" y="5705856"/>
            <a:ext cx="4434840" cy="384048"/>
          </a:xfrm>
          <a:prstGeom prst="rect">
            <a:avLst/>
          </a:prstGeom>
          <a:noFill/>
          <a:ln/>
        </p:spPr>
        <p:txBody>
          <a:bodyPr wrap="square" lIns="0" tIns="0" rIns="0" bIns="0" rtlCol="0" anchor="ctr">
            <a:normAutofit/>
          </a:bodyPr>
          <a:lstStyle/>
          <a:p>
            <a:pPr indent="0" marL="0">
              <a:buNone/>
            </a:pPr>
            <a:r>
              <a:rPr lang="en-US" sz="1200" dirty="0">
                <a:solidFill>
                  <a:srgbClr val="D6E3F0"/>
                </a:solidFill>
              </a:rPr>
              <a:t>Reflection: fluent language is not the same as reliable summarization.</a:t>
            </a:r>
            <a:endParaRPr lang="en-US" sz="1200" dirty="0"/>
          </a:p>
        </p:txBody>
      </p:sp>
      <p:sp>
        <p:nvSpPr>
          <p:cNvPr id="22" name="Shape 19"/>
          <p:cNvSpPr/>
          <p:nvPr/>
        </p:nvSpPr>
        <p:spPr>
          <a:xfrm>
            <a:off x="594360" y="6473952"/>
            <a:ext cx="10972800" cy="0"/>
          </a:xfrm>
          <a:prstGeom prst="line">
            <a:avLst/>
          </a:prstGeom>
          <a:noFill/>
          <a:ln w="7620">
            <a:solidFill>
              <a:srgbClr val="33506A">
                <a:alpha val="60000"/>
              </a:srgbClr>
            </a:solidFill>
            <a:prstDash val="solid"/>
          </a:ln>
        </p:spPr>
      </p:sp>
      <p:sp>
        <p:nvSpPr>
          <p:cNvPr id="23" name="Text 20"/>
          <p:cNvSpPr/>
          <p:nvPr/>
        </p:nvSpPr>
        <p:spPr>
          <a:xfrm>
            <a:off x="594360" y="6565392"/>
            <a:ext cx="3840480" cy="146304"/>
          </a:xfrm>
          <a:prstGeom prst="rect">
            <a:avLst/>
          </a:prstGeom>
          <a:noFill/>
          <a:ln/>
        </p:spPr>
        <p:txBody>
          <a:bodyPr wrap="square" lIns="0" tIns="0" rIns="0" bIns="0" rtlCol="0" anchor="ctr"/>
          <a:lstStyle/>
          <a:p>
            <a:pPr indent="0" marL="0">
              <a:buNone/>
            </a:pPr>
            <a:r>
              <a:rPr lang="en-US" sz="680" dirty="0">
                <a:solidFill>
                  <a:srgbClr val="9FB3C8"/>
                </a:solidFill>
              </a:rPr>
              <a:t>Gridiron Brief  |  Project 3 Showcase</a:t>
            </a:r>
            <a:endParaRPr lang="en-US" sz="680" dirty="0"/>
          </a:p>
        </p:txBody>
      </p:sp>
      <p:sp>
        <p:nvSpPr>
          <p:cNvPr id="24" name="Text 21"/>
          <p:cNvSpPr/>
          <p:nvPr/>
        </p:nvSpPr>
        <p:spPr>
          <a:xfrm>
            <a:off x="11119104" y="6565392"/>
            <a:ext cx="457200" cy="146304"/>
          </a:xfrm>
          <a:prstGeom prst="rect">
            <a:avLst/>
          </a:prstGeom>
          <a:noFill/>
          <a:ln/>
        </p:spPr>
        <p:txBody>
          <a:bodyPr wrap="square" lIns="0" tIns="0" rIns="0" bIns="0" rtlCol="0" anchor="ctr"/>
          <a:lstStyle/>
          <a:p>
            <a:pPr algn="r" indent="0" marL="0">
              <a:buNone/>
            </a:pPr>
            <a:r>
              <a:rPr lang="en-US" sz="680" dirty="0">
                <a:solidFill>
                  <a:srgbClr val="9FB3C8"/>
                </a:solidFill>
              </a:rPr>
              <a:t>8/8</a:t>
            </a:r>
            <a:endParaRPr lang="en-US" sz="68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Flatiron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Gridiron Brief: AI-Powered Fantasy Football League Chat Summarization</dc:title>
  <dc:subject>Gridiron Brief LLM Showcase</dc:subject>
  <dc:creator>Bennett Trott</dc:creator>
  <cp:lastModifiedBy>Bennett Trott</cp:lastModifiedBy>
  <cp:revision>1</cp:revision>
  <dcterms:created xsi:type="dcterms:W3CDTF">2026-09-12T03:27:59Z</dcterms:created>
  <dcterms:modified xsi:type="dcterms:W3CDTF">2026-09-12T03:27:59Z</dcterms:modified>
</cp:coreProperties>
</file>